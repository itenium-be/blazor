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301" r:id="rId2"/>
    <p:sldId id="256" r:id="rId3"/>
    <p:sldId id="262" r:id="rId4"/>
    <p:sldId id="308" r:id="rId5"/>
    <p:sldId id="259" r:id="rId6"/>
    <p:sldId id="302" r:id="rId7"/>
    <p:sldId id="303" r:id="rId8"/>
    <p:sldId id="304" r:id="rId9"/>
    <p:sldId id="305" r:id="rId10"/>
    <p:sldId id="306" r:id="rId11"/>
    <p:sldId id="307" r:id="rId12"/>
    <p:sldId id="298" r:id="rId13"/>
    <p:sldId id="288" r:id="rId14"/>
    <p:sldId id="265" r:id="rId15"/>
  </p:sldIdLst>
  <p:sldSz cx="18288000" cy="10287000"/>
  <p:notesSz cx="6858000" cy="9144000"/>
  <p:embeddedFontLst>
    <p:embeddedFont>
      <p:font typeface="Open Sans Bold" panose="020B0806030504020204" pitchFamily="34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87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85CB2-FB70-CC72-8730-7B2910B979A3}" v="2675" dt="2025-05-08T13:56:16.839"/>
    <p1510:client id="{2EB0BDF1-980A-1FE0-0AB5-ED8FD2235780}" v="78" dt="2025-05-07T20:55:12.043"/>
    <p1510:client id="{76A63F6B-A53B-94B2-913A-C934649FC1F3}" v="191" dt="2025-05-08T14:04:00.640"/>
    <p1510:client id="{CA81D63C-1861-C74C-DFF2-0172AD3F97B0}" v="184" dt="2025-05-08T12:01:25.736"/>
    <p1510:client id="{E21EEC07-E453-B853-F084-A27006576CB3}" v="67" dt="2025-05-08T15:04:10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D8B0B-48B9-489A-9B0D-F82E51067D0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4C4F5-CD59-42E8-BA39-B822E856E56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55931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Java is traag? Java is niet traag.</a:t>
            </a:r>
          </a:p>
          <a:p>
            <a:r>
              <a:rPr lang="nl-BE"/>
              <a:t>Het is de DB? We hebben een betere DB nodig</a:t>
            </a:r>
          </a:p>
          <a:p>
            <a:r>
              <a:rPr lang="nl-BE"/>
              <a:t>Het is makkelijk om iemand anders de schuld te geven maar het zit vaak genoeg in onze eigen code of onze </a:t>
            </a:r>
            <a:r>
              <a:rPr lang="nl-BE" err="1"/>
              <a:t>frameworks</a:t>
            </a:r>
            <a:r>
              <a:rPr lang="nl-BE"/>
              <a:t> of hoe we onze </a:t>
            </a:r>
            <a:r>
              <a:rPr lang="nl-BE" err="1"/>
              <a:t>frameworks</a:t>
            </a:r>
            <a:r>
              <a:rPr lang="nl-BE"/>
              <a:t> gebruiken</a:t>
            </a:r>
          </a:p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4C4F5-CD59-42E8-BA39-B822E856E564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5496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6DBF9-BD40-80D3-AB3A-AD45EC49A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C89CC49-FB1E-CF75-D341-E4DD76F25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140706A-8BD8-F934-3D61-94208E2DF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In postgres</a:t>
            </a:r>
          </a:p>
          <a:p>
            <a:r>
              <a:rPr lang="nl-BE"/>
              <a:t>Elke connectie is een OS </a:t>
            </a:r>
            <a:r>
              <a:rPr lang="nl-BE" err="1"/>
              <a:t>process</a:t>
            </a:r>
            <a:endParaRPr lang="nl-BE"/>
          </a:p>
          <a:p>
            <a:r>
              <a:rPr lang="nl-BE"/>
              <a:t>Elk proces neemt 5 tot 10 MB RAM in</a:t>
            </a:r>
          </a:p>
          <a:p>
            <a:r>
              <a:rPr lang="nl-BE"/>
              <a:t>En de CPU moet switchen tussen deze contexten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39D88B6-C0FB-EB32-2FC4-C9DD43911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4C4F5-CD59-42E8-BA39-B822E856E564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93387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In postgres</a:t>
            </a:r>
          </a:p>
          <a:p>
            <a:r>
              <a:rPr lang="nl-BE"/>
              <a:t>Elke connectie is een OS </a:t>
            </a:r>
            <a:r>
              <a:rPr lang="nl-BE" err="1"/>
              <a:t>process</a:t>
            </a:r>
            <a:endParaRPr lang="nl-BE"/>
          </a:p>
          <a:p>
            <a:r>
              <a:rPr lang="nl-BE"/>
              <a:t>Elk proces neemt 5 tot 10 MB RAM in</a:t>
            </a:r>
          </a:p>
          <a:p>
            <a:r>
              <a:rPr lang="nl-BE"/>
              <a:t>En de CPU moet switchen tussen deze contexten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4C4F5-CD59-42E8-BA39-B822E856E564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95552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F6DF0-94D2-2E3C-CDA6-F6918069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D119E1C-B417-D010-384C-3535AE531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4FE2625-B839-A2B0-2BB4-2CF93A404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In postgres</a:t>
            </a:r>
          </a:p>
          <a:p>
            <a:r>
              <a:rPr lang="nl-BE"/>
              <a:t>Elke connectie is een OS </a:t>
            </a:r>
            <a:r>
              <a:rPr lang="nl-BE" err="1"/>
              <a:t>process</a:t>
            </a:r>
            <a:endParaRPr lang="nl-BE"/>
          </a:p>
          <a:p>
            <a:r>
              <a:rPr lang="nl-BE"/>
              <a:t>Elk proces neemt 5 tot 10 MB RAM in</a:t>
            </a:r>
          </a:p>
          <a:p>
            <a:r>
              <a:rPr lang="nl-BE"/>
              <a:t>En de CPU moet switchen tussen deze contexten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F39BCB7-7D1D-09A0-3D07-12C63B01E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4C4F5-CD59-42E8-BA39-B822E856E564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73061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8429F-5CEA-8886-95ED-06259842D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196169E-BA8A-AE90-4AA5-CE3BFE250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C396F0F-7209-CE69-5E46-D74AC5D01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In postgres</a:t>
            </a:r>
          </a:p>
          <a:p>
            <a:r>
              <a:rPr lang="nl-BE"/>
              <a:t>Elke connectie is een OS </a:t>
            </a:r>
            <a:r>
              <a:rPr lang="nl-BE" err="1"/>
              <a:t>process</a:t>
            </a:r>
            <a:endParaRPr lang="nl-BE"/>
          </a:p>
          <a:p>
            <a:r>
              <a:rPr lang="nl-BE"/>
              <a:t>Elk proces neemt 5 tot 10 MB RAM in</a:t>
            </a:r>
          </a:p>
          <a:p>
            <a:r>
              <a:rPr lang="nl-BE"/>
              <a:t>En de CPU moet switchen tussen deze contexten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42DEEB-EF09-6FB5-EE48-41E02587A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4C4F5-CD59-42E8-BA39-B822E856E564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49240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47C6A-0811-2706-B88D-568E08CEE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2E91EB3-DA0F-7B4E-D940-5E6BC47D1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FE56DA8-0C61-0B07-8B30-01B82284A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In postgres</a:t>
            </a:r>
          </a:p>
          <a:p>
            <a:r>
              <a:rPr lang="nl-BE"/>
              <a:t>Elke connectie is een OS </a:t>
            </a:r>
            <a:r>
              <a:rPr lang="nl-BE" err="1"/>
              <a:t>process</a:t>
            </a:r>
            <a:endParaRPr lang="nl-BE"/>
          </a:p>
          <a:p>
            <a:r>
              <a:rPr lang="nl-BE"/>
              <a:t>Elk proces neemt 5 tot 10 MB RAM in</a:t>
            </a:r>
          </a:p>
          <a:p>
            <a:r>
              <a:rPr lang="nl-BE"/>
              <a:t>En de CPU moet switchen tussen deze contexten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41482B4-9B4D-3692-C027-9269D8FB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4C4F5-CD59-42E8-BA39-B822E856E564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20215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A3545-8FA8-FC77-34B4-B3BAD186F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71602DC-7E91-D49F-8DCF-E07534C4D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EBE98EA-3D06-ED20-5478-A212B424E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In postgres</a:t>
            </a:r>
          </a:p>
          <a:p>
            <a:r>
              <a:rPr lang="nl-BE"/>
              <a:t>Elke connectie is een OS </a:t>
            </a:r>
            <a:r>
              <a:rPr lang="nl-BE" err="1"/>
              <a:t>process</a:t>
            </a:r>
            <a:endParaRPr lang="nl-BE"/>
          </a:p>
          <a:p>
            <a:r>
              <a:rPr lang="nl-BE"/>
              <a:t>Elk proces neemt 5 tot 10 MB RAM in</a:t>
            </a:r>
          </a:p>
          <a:p>
            <a:r>
              <a:rPr lang="nl-BE"/>
              <a:t>En de CPU moet switchen tussen deze contexten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93E8287-78A4-4F27-75F0-B01AE0550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4C4F5-CD59-42E8-BA39-B822E856E564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91910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9B236-F830-A775-5408-DA12FB4F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34D0807-BFDD-78BD-5636-36C16F10C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2F16A72-94C4-2EC3-7547-DC7B6E697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In postgres</a:t>
            </a:r>
          </a:p>
          <a:p>
            <a:r>
              <a:rPr lang="nl-BE"/>
              <a:t>Elke connectie is een OS </a:t>
            </a:r>
            <a:r>
              <a:rPr lang="nl-BE" err="1"/>
              <a:t>process</a:t>
            </a:r>
            <a:endParaRPr lang="nl-BE"/>
          </a:p>
          <a:p>
            <a:r>
              <a:rPr lang="nl-BE"/>
              <a:t>Elk proces neemt 5 tot 10 MB RAM in</a:t>
            </a:r>
          </a:p>
          <a:p>
            <a:r>
              <a:rPr lang="nl-BE"/>
              <a:t>En de CPU moet switchen tussen deze contexten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A623828-3D11-0737-4510-B4AD4149F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4C4F5-CD59-42E8-BA39-B822E856E564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24984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DB59F-B2EA-6C9D-0AA0-6A0549744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5C2EE49-09CE-E715-F672-D2BC31939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C732171-2491-87A1-87BD-582961093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In postgres</a:t>
            </a:r>
          </a:p>
          <a:p>
            <a:r>
              <a:rPr lang="nl-BE"/>
              <a:t>Elke connectie is een OS </a:t>
            </a:r>
            <a:r>
              <a:rPr lang="nl-BE" err="1"/>
              <a:t>process</a:t>
            </a:r>
            <a:endParaRPr lang="nl-BE"/>
          </a:p>
          <a:p>
            <a:r>
              <a:rPr lang="nl-BE"/>
              <a:t>Elk proces neemt 5 tot 10 MB RAM in</a:t>
            </a:r>
          </a:p>
          <a:p>
            <a:r>
              <a:rPr lang="nl-BE"/>
              <a:t>En de CPU moet switchen tussen deze contexten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C01E802-5C73-7C94-94A3-7C0095C8F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4C4F5-CD59-42E8-BA39-B822E856E564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49606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C968A-4354-4554-DB0A-91A52565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BE9DB39-0B6D-8CC4-9068-805ADEB2D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8D0FC29-3E4A-C26D-6626-352A59D33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8536CBB-6BD1-0FAB-EFB9-68364B9A2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4C4F5-CD59-42E8-BA39-B822E856E564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78923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in </a:t>
            </a:r>
            <a:r>
              <a:rPr lang="nl-NL" err="1"/>
              <a:t>the</a:t>
            </a:r>
            <a:r>
              <a:rPr lang="nl-NL"/>
              <a:t> package </a:t>
            </a:r>
            <a:r>
              <a:rPr lang="nl-NL" err="1"/>
              <a:t>connections</a:t>
            </a:r>
            <a:r>
              <a:rPr lang="nl-NL"/>
              <a:t> hebben we </a:t>
            </a:r>
            <a:r>
              <a:rPr lang="nl-NL" err="1"/>
              <a:t>AnotherService</a:t>
            </a:r>
            <a:r>
              <a:rPr lang="nl-NL"/>
              <a:t> met daarin een aantal methodes die allemaal geannoteerd zijn met </a:t>
            </a:r>
            <a:r>
              <a:rPr lang="nl-NL" err="1"/>
              <a:t>Transactional</a:t>
            </a:r>
            <a:r>
              <a:rPr lang="nl-NL"/>
              <a:t> zoals we normaal altijd doen</a:t>
            </a:r>
          </a:p>
          <a:p>
            <a:endParaRPr lang="nl-NL"/>
          </a:p>
          <a:p>
            <a:r>
              <a:rPr lang="nl-NL"/>
              <a:t>Er is ook een controller </a:t>
            </a:r>
            <a:r>
              <a:rPr lang="nl-NL" err="1"/>
              <a:t>SampleController</a:t>
            </a:r>
            <a:r>
              <a:rPr lang="nl-NL"/>
              <a:t> die deze methodes oproept </a:t>
            </a:r>
          </a:p>
          <a:p>
            <a:endParaRPr lang="nl-NL"/>
          </a:p>
          <a:p>
            <a:r>
              <a:rPr lang="nl-NL"/>
              <a:t>We hebben een testklasse die elk van deze calls zal oproepen: </a:t>
            </a:r>
            <a:r>
              <a:rPr lang="nl-NL" err="1"/>
              <a:t>SampleControllerTests</a:t>
            </a:r>
            <a:r>
              <a:rPr lang="nl-NL"/>
              <a:t> met daarin al de flexipool en de </a:t>
            </a:r>
            <a:r>
              <a:rPr lang="nl-NL" err="1"/>
              <a:t>decorator</a:t>
            </a:r>
            <a:r>
              <a:rPr lang="nl-NL"/>
              <a:t> dus we gaan daar geen tijd aan verspelen.</a:t>
            </a:r>
          </a:p>
          <a:p>
            <a:endParaRPr lang="nl-NL"/>
          </a:p>
          <a:p>
            <a:r>
              <a:rPr lang="nl-NL"/>
              <a:t>Wat we nu dus zien is hoelang de </a:t>
            </a:r>
            <a:r>
              <a:rPr lang="nl-NL" err="1"/>
              <a:t>connection</a:t>
            </a:r>
            <a:r>
              <a:rPr lang="nl-NL"/>
              <a:t> is </a:t>
            </a:r>
            <a:r>
              <a:rPr lang="nl-NL" err="1"/>
              <a:t>leased</a:t>
            </a:r>
            <a:endParaRPr lang="nl-NL"/>
          </a:p>
          <a:p>
            <a:endParaRPr lang="nl-NL"/>
          </a:p>
          <a:p>
            <a:r>
              <a:rPr lang="nl-NL"/>
              <a:t>oefening 1:</a:t>
            </a:r>
          </a:p>
          <a:p>
            <a:r>
              <a:rPr lang="nl-NL"/>
              <a:t>Kijk eerst eens naar de </a:t>
            </a:r>
            <a:r>
              <a:rPr lang="nl-NL" err="1"/>
              <a:t>hello</a:t>
            </a:r>
            <a:r>
              <a:rPr lang="nl-NL"/>
              <a:t> test. Deze doet een gewone </a:t>
            </a:r>
            <a:r>
              <a:rPr lang="nl-NL" err="1"/>
              <a:t>findAll</a:t>
            </a:r>
            <a:r>
              <a:rPr lang="nl-NL"/>
              <a:t> met een gewone spring data </a:t>
            </a:r>
            <a:r>
              <a:rPr lang="nl-NL" err="1"/>
              <a:t>repo</a:t>
            </a:r>
            <a:r>
              <a:rPr lang="nl-NL"/>
              <a:t>.</a:t>
            </a:r>
          </a:p>
          <a:p>
            <a:r>
              <a:rPr lang="nl-NL"/>
              <a:t>We zien dat een connectie krijgen 0 </a:t>
            </a:r>
            <a:r>
              <a:rPr lang="nl-NL" err="1"/>
              <a:t>millis</a:t>
            </a:r>
            <a:r>
              <a:rPr lang="nl-NL"/>
              <a:t> duurt maar hij was over de 200 </a:t>
            </a:r>
            <a:r>
              <a:rPr lang="nl-NL" err="1"/>
              <a:t>leased</a:t>
            </a:r>
            <a:r>
              <a:rPr lang="nl-NL"/>
              <a:t> -&gt; lang voor een query die 0 </a:t>
            </a:r>
            <a:r>
              <a:rPr lang="nl-NL" err="1"/>
              <a:t>resultate</a:t>
            </a:r>
            <a:r>
              <a:rPr lang="nl-NL"/>
              <a:t> oplevert.</a:t>
            </a:r>
          </a:p>
          <a:p>
            <a:r>
              <a:rPr lang="nl-NL"/>
              <a:t>Wat is er hier gebeurd?</a:t>
            </a:r>
          </a:p>
          <a:p>
            <a:r>
              <a:rPr lang="nl-NL"/>
              <a:t>We hebben een controle methode, die een service call doet en nog een </a:t>
            </a:r>
            <a:r>
              <a:rPr lang="nl-NL" err="1"/>
              <a:t>external</a:t>
            </a:r>
            <a:r>
              <a:rPr lang="nl-NL"/>
              <a:t> call die een sleep is van 200 </a:t>
            </a:r>
            <a:r>
              <a:rPr lang="nl-NL" err="1"/>
              <a:t>millis</a:t>
            </a:r>
            <a:endParaRPr lang="nl-NL"/>
          </a:p>
          <a:p>
            <a:r>
              <a:rPr lang="nl-NL"/>
              <a:t>Op zich raar want de service call is toch </a:t>
            </a:r>
            <a:r>
              <a:rPr lang="nl-NL" err="1"/>
              <a:t>transactional</a:t>
            </a:r>
            <a:r>
              <a:rPr lang="nl-NL"/>
              <a:t>? We zeggen dus toch waar de transactie begint en eindigt aan spring en waar we dus geen </a:t>
            </a:r>
            <a:r>
              <a:rPr lang="nl-NL" err="1"/>
              <a:t>db</a:t>
            </a:r>
            <a:r>
              <a:rPr lang="nl-NL"/>
              <a:t> meer nodig hebben.</a:t>
            </a:r>
          </a:p>
          <a:p>
            <a:r>
              <a:rPr lang="nl-NL"/>
              <a:t>Maar zo werkt het dus niet, toch niet </a:t>
            </a:r>
            <a:r>
              <a:rPr lang="nl-NL" err="1"/>
              <a:t>by</a:t>
            </a:r>
            <a:r>
              <a:rPr lang="nl-NL"/>
              <a:t> default!</a:t>
            </a:r>
          </a:p>
          <a:p>
            <a:endParaRPr lang="nl-NL"/>
          </a:p>
          <a:p>
            <a:r>
              <a:rPr lang="nl-NL"/>
              <a:t>Laten we eens naar de logs kijken. Daar zal je een </a:t>
            </a:r>
            <a:r>
              <a:rPr lang="nl-NL" err="1"/>
              <a:t>warning</a:t>
            </a:r>
            <a:r>
              <a:rPr lang="nl-NL"/>
              <a:t> vinden bij het opstarten van je spring applicatie: </a:t>
            </a:r>
            <a:r>
              <a:rPr lang="nl-NL" err="1"/>
              <a:t>spring.jpa.open</a:t>
            </a:r>
            <a:r>
              <a:rPr lang="nl-NL"/>
              <a:t>-in-view is </a:t>
            </a:r>
            <a:r>
              <a:rPr lang="nl-NL" err="1"/>
              <a:t>enabled</a:t>
            </a:r>
            <a:r>
              <a:rPr lang="nl-NL"/>
              <a:t> </a:t>
            </a:r>
            <a:r>
              <a:rPr lang="nl-NL" err="1"/>
              <a:t>by</a:t>
            </a:r>
            <a:r>
              <a:rPr lang="nl-NL"/>
              <a:t> default</a:t>
            </a:r>
          </a:p>
          <a:p>
            <a:r>
              <a:rPr lang="nl-NL"/>
              <a:t>Dit is iets die we dus niet willen. </a:t>
            </a:r>
          </a:p>
          <a:p>
            <a:r>
              <a:rPr lang="nl-NL"/>
              <a:t>We kunnen dit dus makkelijk oplossen door een property toe te voegen</a:t>
            </a:r>
          </a:p>
          <a:p>
            <a:endParaRPr lang="nl-NL"/>
          </a:p>
          <a:p>
            <a:r>
              <a:rPr lang="nl-NL" err="1"/>
              <a:t>spring.jpa.open</a:t>
            </a:r>
            <a:r>
              <a:rPr lang="nl-NL"/>
              <a:t>-in-view=</a:t>
            </a:r>
            <a:r>
              <a:rPr lang="nl-NL" err="1"/>
              <a:t>false</a:t>
            </a:r>
            <a:endParaRPr lang="nl-NL"/>
          </a:p>
          <a:p>
            <a:endParaRPr lang="nl-NL"/>
          </a:p>
          <a:p>
            <a:r>
              <a:rPr lang="nl-NL"/>
              <a:t>run de test opnieuw en nu zal de lease maar enkele </a:t>
            </a:r>
            <a:r>
              <a:rPr lang="nl-NL" err="1"/>
              <a:t>millis</a:t>
            </a:r>
            <a:r>
              <a:rPr lang="nl-NL"/>
              <a:t> duren zoals verwacht</a:t>
            </a:r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4C4F5-CD59-42E8-BA39-B822E856E564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85491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11" Type="http://schemas.openxmlformats.org/officeDocument/2006/relationships/image" Target="../media/image29.jpeg"/><Relationship Id="rId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23.svg"/><Relationship Id="rId9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23.svg"/><Relationship Id="rId9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5.png"/><Relationship Id="rId7" Type="http://schemas.openxmlformats.org/officeDocument/2006/relationships/image" Target="../media/image9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16.svg"/><Relationship Id="rId4" Type="http://schemas.openxmlformats.org/officeDocument/2006/relationships/image" Target="../media/image36.sv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2638" r="22638"/>
          <a:stretch>
            <a:fillRect/>
          </a:stretch>
        </p:blipFill>
        <p:spPr>
          <a:xfrm>
            <a:off x="9838614" y="0"/>
            <a:ext cx="8449386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320878" y="247664"/>
            <a:ext cx="1165884" cy="1233164"/>
            <a:chOff x="0" y="0"/>
            <a:chExt cx="1554512" cy="1644218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555419" cy="874676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999093" y="0"/>
              <a:ext cx="555419" cy="874676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1186692"/>
              <a:ext cx="555419" cy="457527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999093" y="1186692"/>
              <a:ext cx="555419" cy="457527"/>
            </a:xfrm>
            <a:prstGeom prst="rect">
              <a:avLst/>
            </a:prstGeom>
          </p:spPr>
        </p:pic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144000" y="8203342"/>
            <a:ext cx="1370713" cy="863549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144000" y="9137701"/>
            <a:ext cx="1370713" cy="863549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144000" y="7278769"/>
            <a:ext cx="1370713" cy="863549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144000" y="6355270"/>
            <a:ext cx="1370713" cy="8635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D95A3D-4518-B584-E861-03DA61D60B24}"/>
              </a:ext>
            </a:extLst>
          </p:cNvPr>
          <p:cNvSpPr txBox="1"/>
          <p:nvPr/>
        </p:nvSpPr>
        <p:spPr>
          <a:xfrm>
            <a:off x="320879" y="1714840"/>
            <a:ext cx="91279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err="1">
                <a:solidFill>
                  <a:schemeClr val="bg1"/>
                </a:solidFill>
              </a:rPr>
              <a:t>WiFi</a:t>
            </a:r>
            <a:r>
              <a:rPr lang="en-US" sz="4400">
                <a:solidFill>
                  <a:schemeClr val="bg1"/>
                </a:solidFill>
              </a:rPr>
              <a:t>: ITENIUM_GAST / </a:t>
            </a:r>
            <a:r>
              <a:rPr lang="en-US" sz="4400" err="1">
                <a:solidFill>
                  <a:schemeClr val="bg1"/>
                </a:solidFill>
              </a:rPr>
              <a:t>FreeWifi</a:t>
            </a:r>
            <a:endParaRPr lang="en-US" sz="44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BE" sz="4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7000"/>
          </a:blip>
          <a:srcRect l="529" r="1761" b="22561"/>
          <a:stretch>
            <a:fillRect/>
          </a:stretch>
        </p:blipFill>
        <p:spPr>
          <a:xfrm>
            <a:off x="9377825" y="-29220"/>
            <a:ext cx="8910175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263758" y="5533110"/>
            <a:ext cx="13778687" cy="337636"/>
            <a:chOff x="0" y="0"/>
            <a:chExt cx="18371583" cy="450182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515867" y="192883"/>
              <a:ext cx="17315579" cy="64933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518"/>
              <a:ext cx="540137" cy="449664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7831446" y="0"/>
              <a:ext cx="540137" cy="449664"/>
            </a:xfrm>
            <a:prstGeom prst="rect">
              <a:avLst/>
            </a:prstGeom>
          </p:spPr>
        </p:pic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-9525" y="0"/>
            <a:ext cx="1456670" cy="145667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r="20294"/>
          <a:stretch>
            <a:fillRect/>
          </a:stretch>
        </p:blipFill>
        <p:spPr>
          <a:xfrm>
            <a:off x="12466900" y="9633639"/>
            <a:ext cx="5830625" cy="54864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6648105" y="1858327"/>
            <a:ext cx="4991790" cy="134986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4">
            <a:alphaModFix amt="8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589378" y="0"/>
            <a:ext cx="10443655" cy="10287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652302" y="4333784"/>
            <a:ext cx="13199914" cy="119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3"/>
              </a:lnSpc>
            </a:pPr>
            <a:r>
              <a:rPr lang="en-US" sz="8050">
                <a:solidFill>
                  <a:srgbClr val="E8870A"/>
                </a:solidFill>
                <a:latin typeface="Open Sans Bold"/>
                <a:ea typeface="Open Sans Bold"/>
                <a:cs typeface="Open Sans Bold"/>
              </a:rPr>
              <a:t>Blazor: </a:t>
            </a:r>
            <a:r>
              <a:rPr lang="en-US" sz="8050" err="1">
                <a:solidFill>
                  <a:srgbClr val="E8870A"/>
                </a:solidFill>
                <a:latin typeface="Open Sans Bold"/>
                <a:ea typeface="Open Sans Bold"/>
                <a:cs typeface="Open Sans Bold"/>
              </a:rPr>
              <a:t>introductie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978BEBFA-551F-0256-9CA0-554A9836397A}"/>
              </a:ext>
            </a:extLst>
          </p:cNvPr>
          <p:cNvSpPr/>
          <p:nvPr/>
        </p:nvSpPr>
        <p:spPr>
          <a:xfrm>
            <a:off x="416920" y="8843010"/>
            <a:ext cx="2233738" cy="6432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BE" sz="3200"/>
              <a:t>Hands-On</a:t>
            </a:r>
            <a:endParaRPr lang="en-BE" sz="3200"/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65F2C9A1-CCD9-E940-E355-8FEE06008582}"/>
              </a:ext>
            </a:extLst>
          </p:cNvPr>
          <p:cNvSpPr/>
          <p:nvPr/>
        </p:nvSpPr>
        <p:spPr>
          <a:xfrm>
            <a:off x="14706600" y="8827332"/>
            <a:ext cx="3352624" cy="658883"/>
          </a:xfrm>
          <a:prstGeom prst="rect">
            <a:avLst/>
          </a:prstGeom>
          <a:solidFill>
            <a:srgbClr val="F8981D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>
                <a:solidFill>
                  <a:schemeClr val="tx1"/>
                </a:solidFill>
              </a:rPr>
              <a:t>.NET</a:t>
            </a:r>
            <a:endParaRPr lang="en-BE" sz="2800" b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82C55E-667A-20F5-B14C-E10B60D19A8C}"/>
              </a:ext>
            </a:extLst>
          </p:cNvPr>
          <p:cNvSpPr txBox="1"/>
          <p:nvPr/>
        </p:nvSpPr>
        <p:spPr>
          <a:xfrm>
            <a:off x="5153053" y="6118322"/>
            <a:ext cx="1023686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>
                    <a:lumMod val="95000"/>
                  </a:schemeClr>
                </a:solidFill>
                <a:latin typeface="Open Sans Bold"/>
                <a:ea typeface="+mn-lt"/>
                <a:cs typeface="+mn-lt"/>
              </a:rPr>
              <a:t>Hands-on </a:t>
            </a:r>
            <a:r>
              <a:rPr lang="en-US" sz="2800" err="1">
                <a:solidFill>
                  <a:schemeClr val="bg1">
                    <a:lumMod val="95000"/>
                  </a:schemeClr>
                </a:solidFill>
                <a:latin typeface="Open Sans Bold"/>
                <a:ea typeface="+mn-lt"/>
                <a:cs typeface="+mn-lt"/>
              </a:rPr>
              <a:t>kennismaking</a:t>
            </a:r>
            <a:r>
              <a:rPr lang="en-US" sz="2800">
                <a:solidFill>
                  <a:schemeClr val="bg1">
                    <a:lumMod val="95000"/>
                  </a:schemeClr>
                </a:solidFill>
                <a:latin typeface="Open Sans Bold"/>
                <a:ea typeface="+mn-lt"/>
                <a:cs typeface="+mn-lt"/>
              </a:rPr>
              <a:t> met frontend in C#</a:t>
            </a:r>
          </a:p>
          <a:p>
            <a:pPr algn="l"/>
            <a:endParaRPr lang="en-US" sz="2800">
              <a:solidFill>
                <a:srgbClr val="0E0E0E"/>
              </a:solidFill>
              <a:latin typeface="Open Sans Bold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533" b="7072"/>
          <a:stretch>
            <a:fillRect/>
          </a:stretch>
        </p:blipFill>
        <p:spPr>
          <a:xfrm>
            <a:off x="0" y="1743744"/>
            <a:ext cx="687157" cy="24565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73088" r="7308" b="3442"/>
          <a:stretch>
            <a:fillRect/>
          </a:stretch>
        </p:blipFill>
        <p:spPr>
          <a:xfrm rot="5400000">
            <a:off x="14774614" y="6773614"/>
            <a:ext cx="6804932" cy="22184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32811" r="20840" b="3582"/>
          <a:stretch>
            <a:fillRect/>
          </a:stretch>
        </p:blipFill>
        <p:spPr>
          <a:xfrm>
            <a:off x="12298819" y="0"/>
            <a:ext cx="5989181" cy="4812391"/>
          </a:xfrm>
          <a:prstGeom prst="rect">
            <a:avLst/>
          </a:prstGeom>
        </p:spPr>
      </p:pic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3472280" y="155787"/>
            <a:ext cx="4177328" cy="4177310"/>
            <a:chOff x="0" y="0"/>
            <a:chExt cx="6350000" cy="6349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l="-17681" r="-17681"/>
              </a:stretch>
            </a:blipFill>
          </p:spPr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378" t="71519"/>
          <a:stretch>
            <a:fillRect/>
          </a:stretch>
        </p:blipFill>
        <p:spPr>
          <a:xfrm>
            <a:off x="0" y="-2894"/>
            <a:ext cx="12634606" cy="313994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4996852" y="9151474"/>
            <a:ext cx="2652756" cy="717350"/>
          </a:xfrm>
          <a:prstGeom prst="rect">
            <a:avLst/>
          </a:prstGeom>
        </p:spPr>
      </p:pic>
      <p:sp>
        <p:nvSpPr>
          <p:cNvPr id="14" name="Tekstvak 11">
            <a:extLst>
              <a:ext uri="{FF2B5EF4-FFF2-40B4-BE49-F238E27FC236}">
                <a16:creationId xmlns:a16="http://schemas.microsoft.com/office/drawing/2014/main" id="{5679BAF7-693E-80AD-C9BE-7E8DF63A1F75}"/>
              </a:ext>
            </a:extLst>
          </p:cNvPr>
          <p:cNvSpPr txBox="1"/>
          <p:nvPr/>
        </p:nvSpPr>
        <p:spPr>
          <a:xfrm>
            <a:off x="683284" y="550224"/>
            <a:ext cx="619408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BE" sz="5400" b="1">
                <a:solidFill>
                  <a:srgbClr val="E8870A"/>
                </a:solidFill>
                <a:latin typeface="Open Sans Bold"/>
                <a:ea typeface="Calibri"/>
                <a:cs typeface="Calibri"/>
              </a:rPr>
              <a:t>Agenda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008D43C-0044-4FFF-DFBB-A70DC1954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643" y="2408926"/>
            <a:ext cx="8229600" cy="452596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/>
                <a:ea typeface="+mn-lt"/>
                <a:cs typeface="+mn-lt"/>
              </a:rPr>
              <a:t>Wat is Blazor?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2400" err="1">
                <a:solidFill>
                  <a:schemeClr val="bg1">
                    <a:lumMod val="95000"/>
                  </a:schemeClr>
                </a:solidFill>
                <a:latin typeface="Calibri"/>
                <a:ea typeface="+mn-lt"/>
                <a:cs typeface="+mn-lt"/>
              </a:rPr>
              <a:t>Hostingmodellen</a:t>
            </a:r>
            <a:endParaRPr lang="en-US" sz="2400" err="1">
              <a:solidFill>
                <a:schemeClr val="bg1">
                  <a:lumMod val="95000"/>
                </a:schemeClr>
              </a:solidFill>
              <a:latin typeface="Calibri"/>
              <a:ea typeface="Open Sans Bold"/>
              <a:cs typeface="Open Sans Bold"/>
            </a:endParaRPr>
          </a:p>
          <a:p>
            <a:r>
              <a:rPr lang="en-US" sz="2400" dirty="0" err="1">
                <a:solidFill>
                  <a:schemeClr val="bg1">
                    <a:lumMod val="95000"/>
                  </a:schemeClr>
                </a:solidFill>
                <a:latin typeface="Calibri"/>
                <a:ea typeface="+mn-lt"/>
                <a:cs typeface="+mn-lt"/>
              </a:rPr>
              <a:t>Webassembly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/>
                <a:ea typeface="+mn-lt"/>
                <a:cs typeface="+mn-lt"/>
              </a:rPr>
              <a:t>?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Blazor component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/>
                <a:ea typeface="+mn-lt"/>
                <a:cs typeface="+mn-lt"/>
              </a:rPr>
              <a:t>Component Lifecycle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Calibri"/>
              <a:ea typeface="Open Sans Bold"/>
              <a:cs typeface="Open Sans Bold"/>
            </a:endParaRP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/>
                <a:ea typeface="+mn-lt"/>
                <a:cs typeface="+mn-lt"/>
              </a:rPr>
              <a:t>Layouts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Calibri"/>
              <a:ea typeface="Open Sans Bold"/>
              <a:cs typeface="Open Sans Bold"/>
            </a:endParaRP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/>
                <a:ea typeface="+mn-lt"/>
                <a:cs typeface="+mn-lt"/>
              </a:rPr>
              <a:t>Routing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/>
                <a:ea typeface="+mn-lt"/>
                <a:cs typeface="+mn-lt"/>
              </a:rPr>
              <a:t>Dependency Injection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/>
                <a:ea typeface="+mn-lt"/>
                <a:cs typeface="+mn-lt"/>
              </a:rPr>
              <a:t>Summary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/>
                <a:ea typeface="+mn-lt"/>
                <a:cs typeface="+mn-lt"/>
              </a:rPr>
              <a:t>Hands-on: Socks Store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Calibri"/>
              <a:ea typeface="Open Sans Bold"/>
              <a:cs typeface="Open Sans Bold"/>
            </a:endParaRPr>
          </a:p>
          <a:p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" name="Picture 9" descr="Bandeau Blazor">
            <a:extLst>
              <a:ext uri="{FF2B5EF4-FFF2-40B4-BE49-F238E27FC236}">
                <a16:creationId xmlns:a16="http://schemas.microsoft.com/office/drawing/2014/main" id="{94F3F7BA-68E6-5035-1907-AA9BD85FD00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1466" t="333" r="31141" b="-666"/>
          <a:stretch/>
        </p:blipFill>
        <p:spPr>
          <a:xfrm>
            <a:off x="13285501" y="151917"/>
            <a:ext cx="4550415" cy="4503674"/>
          </a:xfrm>
          <a:prstGeom prst="flowChartConnector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FDDA2-8665-F542-8B95-C698EB556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669AE54-7098-1187-8F9D-675CEEC674EB}"/>
              </a:ext>
            </a:extLst>
          </p:cNvPr>
          <p:cNvGrpSpPr/>
          <p:nvPr/>
        </p:nvGrpSpPr>
        <p:grpSpPr>
          <a:xfrm rot="5400000">
            <a:off x="9481664" y="8850062"/>
            <a:ext cx="1430896" cy="816476"/>
            <a:chOff x="0" y="0"/>
            <a:chExt cx="1907862" cy="1088634"/>
          </a:xfrm>
        </p:grpSpPr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71AEEA66-D559-6E19-7AB0-5066E24E4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216579" y="0"/>
              <a:ext cx="691283" cy="1088634"/>
            </a:xfrm>
            <a:prstGeom prst="rect">
              <a:avLst/>
            </a:prstGeom>
          </p:spPr>
        </p:pic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5ED46281-DD14-2DE3-9301-86E6BA92D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691283" cy="1088634"/>
            </a:xfrm>
            <a:prstGeom prst="rect">
              <a:avLst/>
            </a:prstGeom>
          </p:spPr>
        </p:pic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848CE3CD-2E59-C581-17D9-7AEF05B31C38}"/>
              </a:ext>
            </a:extLst>
          </p:cNvPr>
          <p:cNvGrpSpPr/>
          <p:nvPr/>
        </p:nvGrpSpPr>
        <p:grpSpPr>
          <a:xfrm>
            <a:off x="12465296" y="6324241"/>
            <a:ext cx="5152287" cy="3514970"/>
            <a:chOff x="0" y="0"/>
            <a:chExt cx="8681263" cy="5951833"/>
          </a:xfrm>
        </p:grpSpPr>
        <p:pic>
          <p:nvPicPr>
            <p:cNvPr id="8" name="Picture 8">
              <a:extLst>
                <a:ext uri="{FF2B5EF4-FFF2-40B4-BE49-F238E27FC236}">
                  <a16:creationId xmlns:a16="http://schemas.microsoft.com/office/drawing/2014/main" id="{27E93ACF-4ADF-6F2B-28FA-7B79A97CA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319" r="1319"/>
            <a:stretch>
              <a:fillRect/>
            </a:stretch>
          </p:blipFill>
          <p:spPr>
            <a:xfrm>
              <a:off x="0" y="0"/>
              <a:ext cx="8681263" cy="5951833"/>
            </a:xfrm>
            <a:prstGeom prst="rect">
              <a:avLst/>
            </a:prstGeom>
          </p:spPr>
        </p:pic>
      </p:grpSp>
      <p:pic>
        <p:nvPicPr>
          <p:cNvPr id="9" name="Picture 9">
            <a:extLst>
              <a:ext uri="{FF2B5EF4-FFF2-40B4-BE49-F238E27FC236}">
                <a16:creationId xmlns:a16="http://schemas.microsoft.com/office/drawing/2014/main" id="{C0BEFBFB-ED47-212F-7AF3-D2CB3B2EEC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7156" t="39024"/>
          <a:stretch>
            <a:fillRect/>
          </a:stretch>
        </p:blipFill>
        <p:spPr>
          <a:xfrm>
            <a:off x="-12221" y="-9525"/>
            <a:ext cx="1040921" cy="1011697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A0096868-3683-DB4C-B9B0-58F7B17B498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24828" y="347917"/>
            <a:ext cx="2139855" cy="578652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5756A9BD-8898-3281-D34F-13CC0F4781BD}"/>
              </a:ext>
            </a:extLst>
          </p:cNvPr>
          <p:cNvSpPr txBox="1"/>
          <p:nvPr/>
        </p:nvSpPr>
        <p:spPr>
          <a:xfrm>
            <a:off x="661718" y="1003111"/>
            <a:ext cx="8086505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BE" sz="5400" b="1" dirty="0">
                <a:solidFill>
                  <a:srgbClr val="E8870A"/>
                </a:solidFill>
                <a:latin typeface="Open Sans Bold"/>
                <a:ea typeface="Open Sans Bold"/>
                <a:cs typeface="Open Sans Bold"/>
              </a:rPr>
              <a:t>Wat is </a:t>
            </a:r>
            <a:r>
              <a:rPr lang="nl-BE" sz="5400" b="1" dirty="0" err="1">
                <a:solidFill>
                  <a:srgbClr val="E8870A"/>
                </a:solidFill>
                <a:latin typeface="Open Sans Bold"/>
                <a:ea typeface="Open Sans Bold"/>
                <a:cs typeface="Open Sans Bold"/>
              </a:rPr>
              <a:t>Blazor</a:t>
            </a:r>
            <a:r>
              <a:rPr lang="nl-BE" sz="5400" b="1" dirty="0">
                <a:solidFill>
                  <a:srgbClr val="E8870A"/>
                </a:solidFill>
                <a:latin typeface="Open Sans Bold"/>
                <a:ea typeface="Open Sans Bold"/>
                <a:cs typeface="Open Sans Bold"/>
              </a:rPr>
              <a:t>?</a:t>
            </a:r>
            <a:endParaRPr lang="en-US" sz="5400">
              <a:solidFill>
                <a:srgbClr val="E8870A"/>
              </a:solidFill>
              <a:latin typeface="Open Sans Bold"/>
              <a:ea typeface="Open Sans Bold"/>
              <a:cs typeface="Open Sans Bold"/>
            </a:endParaRPr>
          </a:p>
          <a:p>
            <a:endParaRPr lang="nl-BE" sz="5400" b="1" dirty="0">
              <a:solidFill>
                <a:srgbClr val="E8870A"/>
              </a:solidFill>
              <a:latin typeface="Open Sans Bold"/>
              <a:ea typeface="Calibri"/>
              <a:cs typeface="Calibri"/>
            </a:endParaRPr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0FE6A215-1CD6-CD19-4F20-99B187A9BA80}"/>
              </a:ext>
            </a:extLst>
          </p:cNvPr>
          <p:cNvSpPr txBox="1">
            <a:spLocks/>
          </p:cNvSpPr>
          <p:nvPr/>
        </p:nvSpPr>
        <p:spPr>
          <a:xfrm>
            <a:off x="683643" y="241970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Single Page Application (SPA) framework</a:t>
            </a:r>
            <a:endParaRPr lang="en-US" sz="2200">
              <a:solidFill>
                <a:schemeClr val="bg1">
                  <a:lumMod val="95000"/>
                </a:schemeClr>
              </a:solidFill>
              <a:latin typeface="Open Sans Bold"/>
              <a:ea typeface="+mn-lt"/>
              <a:cs typeface="+mn-lt"/>
            </a:endParaRP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Onderdeel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.NET ecosystem</a:t>
            </a: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Componenten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gebaseerde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architectuur</a:t>
            </a:r>
            <a:endParaRPr lang="en-US" err="1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pPr lvl="1">
              <a:buFont typeface="Courier New" pitchFamily="34" charset="0"/>
              <a:buChar char="o"/>
            </a:pP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C# 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i.p.v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 JavaScript </a:t>
            </a:r>
          </a:p>
          <a:p>
            <a:pPr lvl="1">
              <a:buFont typeface="Courier New" pitchFamily="34" charset="0"/>
              <a:buChar char="o"/>
            </a:pP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Razor syntax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Alternatief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voor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Angular/React/Vue</a:t>
            </a:r>
            <a:endParaRPr lang="en-US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Frontend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en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backend in .NET</a:t>
            </a:r>
            <a:endParaRPr lang="en-US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Open source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en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cross platform</a:t>
            </a: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700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  <p:bldP spid="2" grpId="4"/>
      <p:bldP spid="2" grpId="5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5400000">
            <a:off x="9481664" y="8850062"/>
            <a:ext cx="1430896" cy="816476"/>
            <a:chOff x="0" y="0"/>
            <a:chExt cx="1907862" cy="1088634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216579" y="0"/>
              <a:ext cx="691283" cy="1088634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691283" cy="1088634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2465296" y="6324241"/>
            <a:ext cx="5152287" cy="3514970"/>
            <a:chOff x="0" y="0"/>
            <a:chExt cx="8681263" cy="5951833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/>
            <a:srcRect l="1319" r="1319"/>
            <a:stretch>
              <a:fillRect/>
            </a:stretch>
          </p:blipFill>
          <p:spPr>
            <a:xfrm>
              <a:off x="0" y="0"/>
              <a:ext cx="8681263" cy="5951833"/>
            </a:xfrm>
            <a:prstGeom prst="rect">
              <a:avLst/>
            </a:prstGeom>
          </p:spPr>
        </p:pic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7156" t="39024"/>
          <a:stretch>
            <a:fillRect/>
          </a:stretch>
        </p:blipFill>
        <p:spPr>
          <a:xfrm>
            <a:off x="-12221" y="-9525"/>
            <a:ext cx="1040921" cy="101169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24828" y="347917"/>
            <a:ext cx="2139855" cy="578652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EA2516D5-3E45-DD31-5ADD-7AD10EA49E3C}"/>
              </a:ext>
            </a:extLst>
          </p:cNvPr>
          <p:cNvSpPr txBox="1"/>
          <p:nvPr/>
        </p:nvSpPr>
        <p:spPr>
          <a:xfrm>
            <a:off x="661718" y="1003111"/>
            <a:ext cx="808650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BE" sz="5400" b="1" dirty="0">
                <a:solidFill>
                  <a:srgbClr val="E8870A"/>
                </a:solidFill>
                <a:latin typeface="Open Sans Bold"/>
                <a:ea typeface="Calibri"/>
                <a:cs typeface="Calibri"/>
              </a:rPr>
              <a:t>Hostingmodellen</a:t>
            </a:r>
            <a:endParaRPr lang="en-US" dirty="0"/>
          </a:p>
        </p:txBody>
      </p:sp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42DC7C77-9F2C-FE55-0961-9ED2AACCB55D}"/>
              </a:ext>
            </a:extLst>
          </p:cNvPr>
          <p:cNvSpPr txBox="1">
            <a:spLocks/>
          </p:cNvSpPr>
          <p:nvPr/>
        </p:nvSpPr>
        <p:spPr>
          <a:xfrm>
            <a:off x="662077" y="2419709"/>
            <a:ext cx="5167223" cy="4504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Blazor server</a:t>
            </a:r>
          </a:p>
          <a:p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Alle UI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wordt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gerenderd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op de server</a:t>
            </a: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Connectie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naar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browser via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SignalR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connectie</a:t>
            </a:r>
            <a:endParaRPr lang="en-US" sz="22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Voordeel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: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snelle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laadtijd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en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goede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performantie</a:t>
            </a:r>
            <a:endParaRPr lang="en-US" sz="22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Nadeel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: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constanste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verbinding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met server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noodzakelijk</a:t>
            </a:r>
            <a:endParaRPr lang="en-US" sz="22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82B59A9-436C-FB9D-8B46-E3762481F946}"/>
              </a:ext>
            </a:extLst>
          </p:cNvPr>
          <p:cNvSpPr txBox="1">
            <a:spLocks/>
          </p:cNvSpPr>
          <p:nvPr/>
        </p:nvSpPr>
        <p:spPr>
          <a:xfrm>
            <a:off x="6032020" y="2398142"/>
            <a:ext cx="5167223" cy="4504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accent6"/>
                </a:solidFill>
                <a:ea typeface="+mn-lt"/>
                <a:cs typeface="+mn-lt"/>
              </a:rPr>
              <a:t>Blazor </a:t>
            </a:r>
            <a:r>
              <a:rPr lang="en-US" err="1">
                <a:solidFill>
                  <a:schemeClr val="accent6"/>
                </a:solidFill>
                <a:ea typeface="+mn-lt"/>
                <a:cs typeface="+mn-lt"/>
              </a:rPr>
              <a:t>Webassembly</a:t>
            </a:r>
            <a:r>
              <a:rPr lang="en-US">
                <a:solidFill>
                  <a:schemeClr val="accent6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accent6"/>
                </a:solidFill>
                <a:ea typeface="+mn-lt"/>
                <a:cs typeface="+mn-lt"/>
              </a:rPr>
              <a:t>Wasm</a:t>
            </a:r>
            <a:r>
              <a:rPr lang="en-US">
                <a:solidFill>
                  <a:schemeClr val="accent6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accent6"/>
              </a:solidFill>
              <a:latin typeface="Open Sans Bold"/>
              <a:ea typeface="+mn-lt"/>
              <a:cs typeface="+mn-lt"/>
            </a:endParaRPr>
          </a:p>
          <a:p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C# code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en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.NET runtime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draaien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in de browser met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Webassembly</a:t>
            </a:r>
            <a:endParaRPr lang="en-US" sz="24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Voordeel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: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draait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volledig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in de browser,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mogelijk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om offline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te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werken</a:t>
            </a:r>
          </a:p>
          <a:p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Nadeel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: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grote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initiele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download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waardoor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initiële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load wat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langer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kan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duren</a:t>
            </a:r>
            <a:r>
              <a:rPr lang="en-US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.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60DB2E5-83D6-C741-8E80-14C91A889345}"/>
              </a:ext>
            </a:extLst>
          </p:cNvPr>
          <p:cNvSpPr txBox="1">
            <a:spLocks/>
          </p:cNvSpPr>
          <p:nvPr/>
        </p:nvSpPr>
        <p:spPr>
          <a:xfrm>
            <a:off x="12453308" y="2398142"/>
            <a:ext cx="5167223" cy="4504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accent6"/>
                </a:solidFill>
                <a:ea typeface="+mn-lt"/>
                <a:cs typeface="+mn-lt"/>
              </a:rPr>
              <a:t>Blazor Hybrid</a:t>
            </a:r>
          </a:p>
          <a:p>
            <a:r>
              <a:rPr lang="en-US" sz="220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Native app UI via .NET MAUI</a:t>
            </a:r>
          </a:p>
          <a:p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UI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wordt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gerenderd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in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een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WebView</a:t>
            </a: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Voordeel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: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ideaal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voor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cross platform native apps</a:t>
            </a: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Nadeel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: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niet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geschikt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voor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web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applicaties</a:t>
            </a: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4" grpId="2"/>
      <p:bldP spid="18" grpId="0"/>
      <p:bldP spid="18" grpId="1"/>
      <p:bldP spid="19" grpId="0"/>
      <p:bldP spid="1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31707-5A11-6051-1257-458BE05B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BB32A953-64E2-B093-04FA-AA2BCB7C35DC}"/>
              </a:ext>
            </a:extLst>
          </p:cNvPr>
          <p:cNvGrpSpPr/>
          <p:nvPr/>
        </p:nvGrpSpPr>
        <p:grpSpPr>
          <a:xfrm rot="5400000">
            <a:off x="9481664" y="8850062"/>
            <a:ext cx="1430896" cy="816476"/>
            <a:chOff x="0" y="0"/>
            <a:chExt cx="1907862" cy="1088634"/>
          </a:xfrm>
        </p:grpSpPr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12CD528F-9890-4FED-4BAA-92BADA920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216579" y="0"/>
              <a:ext cx="691283" cy="1088634"/>
            </a:xfrm>
            <a:prstGeom prst="rect">
              <a:avLst/>
            </a:prstGeom>
          </p:spPr>
        </p:pic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DC259F5C-FF40-DD48-8B6C-FEE0F6FFE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691283" cy="1088634"/>
            </a:xfrm>
            <a:prstGeom prst="rect">
              <a:avLst/>
            </a:prstGeom>
          </p:spPr>
        </p:pic>
      </p:grpSp>
      <p:pic>
        <p:nvPicPr>
          <p:cNvPr id="9" name="Picture 9">
            <a:extLst>
              <a:ext uri="{FF2B5EF4-FFF2-40B4-BE49-F238E27FC236}">
                <a16:creationId xmlns:a16="http://schemas.microsoft.com/office/drawing/2014/main" id="{123C6ED0-C628-5C4F-B838-EF19C78F5F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7156" t="39024"/>
          <a:stretch>
            <a:fillRect/>
          </a:stretch>
        </p:blipFill>
        <p:spPr>
          <a:xfrm>
            <a:off x="-12221" y="-9525"/>
            <a:ext cx="1040921" cy="1011697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0D85C93D-CE82-94A4-723F-928BB25F728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224828" y="347917"/>
            <a:ext cx="2139855" cy="578652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CC376CA0-08AC-7FDE-3909-AEA739DB7AEB}"/>
              </a:ext>
            </a:extLst>
          </p:cNvPr>
          <p:cNvSpPr txBox="1"/>
          <p:nvPr/>
        </p:nvSpPr>
        <p:spPr>
          <a:xfrm>
            <a:off x="661718" y="1003111"/>
            <a:ext cx="808650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BE" sz="5400" b="1" err="1">
                <a:solidFill>
                  <a:srgbClr val="E8870A"/>
                </a:solidFill>
                <a:latin typeface="Open Sans Bold"/>
                <a:ea typeface="Calibri"/>
                <a:cs typeface="Calibri"/>
              </a:rPr>
              <a:t>Webassembly</a:t>
            </a:r>
            <a:r>
              <a:rPr lang="nl-BE" sz="5400" b="1">
                <a:solidFill>
                  <a:srgbClr val="E8870A"/>
                </a:solidFill>
                <a:latin typeface="Open Sans Bold"/>
                <a:ea typeface="Calibri"/>
                <a:cs typeface="Calibri"/>
              </a:rPr>
              <a:t>?</a:t>
            </a:r>
            <a:endParaRPr lang="en-US" err="1"/>
          </a:p>
        </p:txBody>
      </p:sp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4CC1320F-BBB1-8744-9D1F-4AF859EFEA94}"/>
              </a:ext>
            </a:extLst>
          </p:cNvPr>
          <p:cNvSpPr txBox="1">
            <a:spLocks/>
          </p:cNvSpPr>
          <p:nvPr/>
        </p:nvSpPr>
        <p:spPr>
          <a:xfrm>
            <a:off x="662077" y="2419709"/>
            <a:ext cx="16268340" cy="49087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WebAssembly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is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een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low-level bytecode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formaat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dat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in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moderne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webbrowsers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draait</a:t>
            </a:r>
            <a:endParaRPr lang="en-US" sz="2200" err="1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Ontworpen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als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een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compilatietarget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voor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high-level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talen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zoals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C, C++, Rust</a:t>
            </a:r>
            <a:endParaRPr lang="en-US" sz="22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Biedt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bijna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-native performance in de browser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Veilig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(sandbox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omgeving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Open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webstandaard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ondersteund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door alle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moderne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browsers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Maakt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het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mogelijk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om C# code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uit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te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voeren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in de browser</a:t>
            </a:r>
          </a:p>
          <a:p>
            <a:pPr lvl="1"/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.NET runtime target 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voor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Wasm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gebaseerd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op Mono runtime</a:t>
            </a:r>
          </a:p>
          <a:p>
            <a:endParaRPr lang="en-US" sz="22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DC8046-CFB5-0F28-2BE3-EBE03BC3CA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714" y="5019675"/>
            <a:ext cx="8628572" cy="506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59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7A93C1-506B-DE49-8A1E-192539950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BAC96523-A14A-1BA3-3642-0C2493B12880}"/>
              </a:ext>
            </a:extLst>
          </p:cNvPr>
          <p:cNvGrpSpPr/>
          <p:nvPr/>
        </p:nvGrpSpPr>
        <p:grpSpPr>
          <a:xfrm rot="5400000">
            <a:off x="9481664" y="8850062"/>
            <a:ext cx="1430896" cy="816476"/>
            <a:chOff x="0" y="0"/>
            <a:chExt cx="1907862" cy="1088634"/>
          </a:xfrm>
        </p:grpSpPr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0D4A0D24-C0A4-6B73-E38D-873EBB4E8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216579" y="0"/>
              <a:ext cx="691283" cy="1088634"/>
            </a:xfrm>
            <a:prstGeom prst="rect">
              <a:avLst/>
            </a:prstGeom>
          </p:spPr>
        </p:pic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B7A71FEE-A620-DC11-8CB5-8F7BDCBCD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691283" cy="1088634"/>
            </a:xfrm>
            <a:prstGeom prst="rect">
              <a:avLst/>
            </a:prstGeom>
          </p:spPr>
        </p:pic>
      </p:grpSp>
      <p:pic>
        <p:nvPicPr>
          <p:cNvPr id="9" name="Picture 9">
            <a:extLst>
              <a:ext uri="{FF2B5EF4-FFF2-40B4-BE49-F238E27FC236}">
                <a16:creationId xmlns:a16="http://schemas.microsoft.com/office/drawing/2014/main" id="{4C1E5D09-D2FA-0798-23BA-E045428319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7156" t="39024"/>
          <a:stretch>
            <a:fillRect/>
          </a:stretch>
        </p:blipFill>
        <p:spPr>
          <a:xfrm>
            <a:off x="-12221" y="-9525"/>
            <a:ext cx="1040921" cy="1011697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628329AB-A413-46CE-5F81-D540B6B044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224828" y="347917"/>
            <a:ext cx="2139855" cy="578652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2F9BFC86-C381-E75F-96F8-1E789E723A3C}"/>
              </a:ext>
            </a:extLst>
          </p:cNvPr>
          <p:cNvSpPr txBox="1"/>
          <p:nvPr/>
        </p:nvSpPr>
        <p:spPr>
          <a:xfrm>
            <a:off x="661718" y="1003111"/>
            <a:ext cx="808650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BE" sz="5400" b="1" err="1">
                <a:solidFill>
                  <a:srgbClr val="E8870A"/>
                </a:solidFill>
                <a:latin typeface="Open Sans Bold"/>
                <a:ea typeface="Calibri"/>
                <a:cs typeface="Calibri"/>
              </a:rPr>
              <a:t>Blazor</a:t>
            </a:r>
            <a:r>
              <a:rPr lang="nl-BE" sz="5400" b="1">
                <a:solidFill>
                  <a:srgbClr val="E8870A"/>
                </a:solidFill>
                <a:latin typeface="Open Sans Bold"/>
                <a:ea typeface="Calibri"/>
                <a:cs typeface="Calibri"/>
              </a:rPr>
              <a:t> component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AFFD1E-1F74-99BA-3AC7-60C2EDE71C11}"/>
              </a:ext>
            </a:extLst>
          </p:cNvPr>
          <p:cNvSpPr txBox="1"/>
          <p:nvPr/>
        </p:nvSpPr>
        <p:spPr>
          <a:xfrm>
            <a:off x="9945179" y="2052009"/>
            <a:ext cx="8118534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page </a:t>
            </a:r>
            <a:r>
              <a:rPr lang="en-US">
                <a:solidFill>
                  <a:srgbClr val="8EA765"/>
                </a:solidFill>
                <a:highlight>
                  <a:srgbClr val="141414"/>
                </a:highlight>
              </a:rPr>
              <a:t>"/counter"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&lt;</a:t>
            </a:r>
            <a:r>
              <a:rPr lang="en-US" b="1" err="1">
                <a:solidFill>
                  <a:srgbClr val="CC7832"/>
                </a:solidFill>
                <a:highlight>
                  <a:srgbClr val="141414"/>
                </a:highlight>
              </a:rPr>
              <a:t>PageTitle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Counter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&lt;/</a:t>
            </a:r>
            <a:r>
              <a:rPr lang="en-US" b="1" err="1">
                <a:solidFill>
                  <a:srgbClr val="CC7832"/>
                </a:solidFill>
                <a:highlight>
                  <a:srgbClr val="141414"/>
                </a:highlight>
              </a:rPr>
              <a:t>PageTitle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&lt;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h1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Counter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&lt;/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h1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&lt;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p </a:t>
            </a:r>
            <a:r>
              <a:rPr lang="en-US">
                <a:solidFill>
                  <a:srgbClr val="BABABA"/>
                </a:solidFill>
                <a:highlight>
                  <a:srgbClr val="141414"/>
                </a:highlight>
              </a:rPr>
              <a:t>role</a:t>
            </a:r>
            <a:r>
              <a:rPr lang="en-US">
                <a:solidFill>
                  <a:srgbClr val="A5C261"/>
                </a:solidFill>
                <a:highlight>
                  <a:srgbClr val="141414"/>
                </a:highlight>
              </a:rPr>
              <a:t>="status"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Current count: 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currentCount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&lt;/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p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&lt;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button </a:t>
            </a:r>
            <a:r>
              <a:rPr lang="en-US">
                <a:solidFill>
                  <a:srgbClr val="BABABA"/>
                </a:solidFill>
                <a:highlight>
                  <a:srgbClr val="141414"/>
                </a:highlight>
              </a:rPr>
              <a:t>class</a:t>
            </a:r>
            <a:r>
              <a:rPr lang="en-US">
                <a:solidFill>
                  <a:srgbClr val="A5C261"/>
                </a:solidFill>
                <a:highlight>
                  <a:srgbClr val="141414"/>
                </a:highlight>
              </a:rPr>
              <a:t>="</a:t>
            </a:r>
            <a:r>
              <a:rPr lang="en-US" err="1">
                <a:solidFill>
                  <a:srgbClr val="A5C261"/>
                </a:solidFill>
                <a:highlight>
                  <a:srgbClr val="141414"/>
                </a:highlight>
              </a:rPr>
              <a:t>btn</a:t>
            </a:r>
            <a:r>
              <a:rPr lang="en-US">
                <a:solidFill>
                  <a:srgbClr val="A5C261"/>
                </a:solidFill>
                <a:highlight>
                  <a:srgbClr val="141414"/>
                </a:highlight>
              </a:rPr>
              <a:t> </a:t>
            </a:r>
            <a:r>
              <a:rPr lang="en-US" err="1">
                <a:solidFill>
                  <a:srgbClr val="A5C261"/>
                </a:solidFill>
                <a:highlight>
                  <a:srgbClr val="141414"/>
                </a:highlight>
              </a:rPr>
              <a:t>btn</a:t>
            </a:r>
            <a:r>
              <a:rPr lang="en-US">
                <a:solidFill>
                  <a:srgbClr val="A5C261"/>
                </a:solidFill>
                <a:highlight>
                  <a:srgbClr val="141414"/>
                </a:highlight>
              </a:rPr>
              <a:t>-primary" 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>
                <a:solidFill>
                  <a:srgbClr val="BABABA"/>
                </a:solidFill>
                <a:highlight>
                  <a:srgbClr val="141414"/>
                </a:highlight>
              </a:rPr>
              <a:t>onclick</a:t>
            </a:r>
            <a:r>
              <a:rPr lang="en-US">
                <a:solidFill>
                  <a:srgbClr val="A5C261"/>
                </a:solidFill>
                <a:highlight>
                  <a:srgbClr val="141414"/>
                </a:highlight>
              </a:rPr>
              <a:t>="</a:t>
            </a:r>
            <a:r>
              <a:rPr lang="en-US">
                <a:solidFill>
                  <a:srgbClr val="FFC66D"/>
                </a:solidFill>
                <a:highlight>
                  <a:srgbClr val="141414"/>
                </a:highlight>
              </a:rPr>
              <a:t>IncrementCount</a:t>
            </a:r>
            <a:r>
              <a:rPr lang="en-US">
                <a:solidFill>
                  <a:srgbClr val="A5C261"/>
                </a:solidFill>
                <a:highlight>
                  <a:srgbClr val="141414"/>
                </a:highlight>
              </a:rPr>
              <a:t>"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Click me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&lt;/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button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code 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{</a:t>
            </a:r>
            <a:br>
              <a:rPr lang="en-US">
                <a:highlight>
                  <a:srgbClr val="141414"/>
                </a:highlight>
              </a:rPr>
            </a:b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 private int </a:t>
            </a:r>
            <a:r>
              <a:rPr lang="en-US" err="1">
                <a:solidFill>
                  <a:srgbClr val="A782BB"/>
                </a:solidFill>
                <a:highlight>
                  <a:srgbClr val="141414"/>
                </a:highlight>
              </a:rPr>
              <a:t>currentCount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 </a:t>
            </a:r>
            <a:r>
              <a:rPr lang="en-US">
                <a:solidFill>
                  <a:srgbClr val="72737A"/>
                </a:solidFill>
                <a:highlight>
                  <a:srgbClr val="141414"/>
                </a:highlight>
              </a:rPr>
              <a:t>= 0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 private void </a:t>
            </a:r>
            <a:r>
              <a:rPr lang="en-US" err="1">
                <a:solidFill>
                  <a:srgbClr val="FFC66D"/>
                </a:solidFill>
                <a:highlight>
                  <a:srgbClr val="141414"/>
                </a:highlight>
              </a:rPr>
              <a:t>IncrementCount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() {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  </a:t>
            </a:r>
            <a:r>
              <a:rPr lang="en-US" err="1">
                <a:solidFill>
                  <a:srgbClr val="A782BB"/>
                </a:solidFill>
                <a:highlight>
                  <a:srgbClr val="141414"/>
                </a:highlight>
              </a:rPr>
              <a:t>currentCount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++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 }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}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56BC0CD2-4B3A-7909-6DA2-36036CD6D304}"/>
              </a:ext>
            </a:extLst>
          </p:cNvPr>
          <p:cNvSpPr txBox="1">
            <a:spLocks/>
          </p:cNvSpPr>
          <p:nvPr/>
        </p:nvSpPr>
        <p:spPr>
          <a:xfrm>
            <a:off x="662077" y="2419709"/>
            <a:ext cx="8860407" cy="49087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Razor files (.razor)</a:t>
            </a:r>
          </a:p>
          <a:p>
            <a:pPr lvl="1"/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Combinatie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HTML 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en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C# code (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evolutie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van razor syntax in ASP.NET MVC)</a:t>
            </a: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Opbouw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:</a:t>
            </a:r>
          </a:p>
          <a:p>
            <a:pPr lvl="1"/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Routing directive</a:t>
            </a:r>
          </a:p>
          <a:p>
            <a:pPr lvl="2">
              <a:buFont typeface="Wingdings" pitchFamily="34" charset="0"/>
              <a:buChar char="§"/>
            </a:pPr>
            <a:r>
              <a:rPr lang="en-US" sz="1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@page</a:t>
            </a:r>
          </a:p>
          <a:p>
            <a:pPr lvl="1"/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HTML Markup</a:t>
            </a:r>
          </a:p>
          <a:p>
            <a:pPr lvl="2">
              <a:buFont typeface="Wingdings" pitchFamily="34" charset="0"/>
              <a:buChar char="§"/>
            </a:pPr>
            <a:r>
              <a:rPr lang="en-US" sz="1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Components + </a:t>
            </a:r>
            <a:r>
              <a:rPr lang="en-US" sz="1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standaard</a:t>
            </a:r>
            <a:r>
              <a:rPr lang="en-US" sz="1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HTML </a:t>
            </a:r>
            <a:r>
              <a:rPr lang="en-US" sz="1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elementen</a:t>
            </a:r>
          </a:p>
          <a:p>
            <a:pPr lvl="1"/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Razor syntax 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voor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C# code</a:t>
            </a:r>
          </a:p>
          <a:p>
            <a:pPr lvl="2">
              <a:buFont typeface="Wingdings" pitchFamily="34" charset="0"/>
              <a:buChar char="§"/>
            </a:pPr>
            <a:r>
              <a:rPr lang="en-US" sz="1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@code {}</a:t>
            </a:r>
          </a:p>
          <a:p>
            <a:pPr lvl="1"/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Data binding: @variable</a:t>
            </a:r>
          </a:p>
          <a:p>
            <a:pPr lvl="2">
              <a:buFont typeface="Wingdings" pitchFamily="34" charset="0"/>
              <a:buChar char="§"/>
            </a:pPr>
            <a:r>
              <a:rPr lang="en-US" sz="14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Standaard</a:t>
            </a:r>
            <a:r>
              <a:rPr lang="en-US" sz="1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one way</a:t>
            </a:r>
          </a:p>
          <a:p>
            <a:pPr lvl="2">
              <a:buFont typeface="Wingdings" pitchFamily="34" charset="0"/>
              <a:buChar char="§"/>
            </a:pPr>
            <a:r>
              <a:rPr lang="en-US" sz="1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Two way binding via @bind</a:t>
            </a: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Herbruikbaar</a:t>
            </a:r>
          </a:p>
          <a:p>
            <a:pPr lvl="1"/>
            <a:endParaRPr lang="en-US" sz="18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endParaRPr lang="en-US" sz="22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698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3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A7E3B2-7771-A298-3EA8-F7F083BD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FAA2F041-351C-7874-594A-401D19BB2F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9937881" y="9306279"/>
            <a:ext cx="518462" cy="816476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1F7689CB-045C-FDAA-0E5E-E9129A0164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7156" t="39024"/>
          <a:stretch>
            <a:fillRect/>
          </a:stretch>
        </p:blipFill>
        <p:spPr>
          <a:xfrm>
            <a:off x="-12221" y="-9525"/>
            <a:ext cx="1040921" cy="1011697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0B26846F-4D33-5FD8-2CD8-8FD809F055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224828" y="347917"/>
            <a:ext cx="2139855" cy="578652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21E864BF-CD1D-32F1-7F26-0E9CEB8D67C3}"/>
              </a:ext>
            </a:extLst>
          </p:cNvPr>
          <p:cNvSpPr txBox="1"/>
          <p:nvPr/>
        </p:nvSpPr>
        <p:spPr>
          <a:xfrm>
            <a:off x="661718" y="1003111"/>
            <a:ext cx="808650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BE" sz="5400" b="1">
                <a:solidFill>
                  <a:srgbClr val="E8870A"/>
                </a:solidFill>
                <a:latin typeface="Open Sans Bold"/>
                <a:ea typeface="Calibri"/>
                <a:cs typeface="Calibri"/>
              </a:rPr>
              <a:t>Component </a:t>
            </a:r>
            <a:r>
              <a:rPr lang="nl-BE" sz="5400" b="1" err="1">
                <a:solidFill>
                  <a:srgbClr val="E8870A"/>
                </a:solidFill>
                <a:latin typeface="Open Sans Bold"/>
                <a:ea typeface="Calibri"/>
                <a:cs typeface="Calibri"/>
              </a:rPr>
              <a:t>lifecycle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5B1C3603-D99B-6BFE-A111-E8F60205E6D1}"/>
              </a:ext>
            </a:extLst>
          </p:cNvPr>
          <p:cNvSpPr txBox="1">
            <a:spLocks/>
          </p:cNvSpPr>
          <p:nvPr/>
        </p:nvSpPr>
        <p:spPr>
          <a:xfrm>
            <a:off x="662077" y="2419709"/>
            <a:ext cx="8860407" cy="49087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Vaste lifecycle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voor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componenten</a:t>
            </a:r>
          </a:p>
          <a:p>
            <a:pPr lvl="1"/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Cfr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. Angular/React/Vue</a:t>
            </a: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OnInitialized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(Async)</a:t>
            </a:r>
          </a:p>
          <a:p>
            <a:pPr lvl="1"/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Uitvoering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na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initialisatie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component</a:t>
            </a: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OnParametersSet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(Async)</a:t>
            </a:r>
          </a:p>
          <a:p>
            <a:pPr lvl="1"/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Wanneer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parameters 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ingesteld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/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gewijzigd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worden</a:t>
            </a: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ShouldRender</a:t>
            </a:r>
          </a:p>
          <a:p>
            <a:r>
              <a:rPr lang="en-US" sz="22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OnAfterRender</a:t>
            </a:r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(Async)</a:t>
            </a:r>
          </a:p>
          <a:p>
            <a:pPr lvl="1"/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Uitvoering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na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rendering component</a:t>
            </a:r>
          </a:p>
          <a:p>
            <a:pPr lvl="1"/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Nodig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voor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180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o.a.</a:t>
            </a:r>
            <a:r>
              <a:rPr lang="en-US" sz="18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JavaScript interop</a:t>
            </a:r>
          </a:p>
          <a:p>
            <a:r>
              <a:rPr lang="en-US" sz="22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Dispose</a:t>
            </a:r>
          </a:p>
          <a:p>
            <a:pPr lvl="1"/>
            <a:endParaRPr lang="en-US" sz="1800">
              <a:solidFill>
                <a:srgbClr val="F2F2F2"/>
              </a:solidFill>
              <a:ea typeface="Calibri"/>
              <a:cs typeface="Calibri"/>
            </a:endParaRPr>
          </a:p>
          <a:p>
            <a:endParaRPr lang="en-US" sz="2200">
              <a:solidFill>
                <a:srgbClr val="F2F2F2"/>
              </a:solidFill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444C3D-5DA2-64B7-7A4E-53E6431E1369}"/>
              </a:ext>
            </a:extLst>
          </p:cNvPr>
          <p:cNvSpPr txBox="1"/>
          <p:nvPr/>
        </p:nvSpPr>
        <p:spPr>
          <a:xfrm>
            <a:off x="9141843" y="704131"/>
            <a:ext cx="11558317" cy="78483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page </a:t>
            </a:r>
            <a:r>
              <a:rPr lang="en-US">
                <a:solidFill>
                  <a:srgbClr val="8EA765"/>
                </a:solidFill>
                <a:highlight>
                  <a:srgbClr val="141414"/>
                </a:highlight>
              </a:rPr>
              <a:t>"/weather"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inject </a:t>
            </a:r>
            <a:r>
              <a:rPr lang="en-US" err="1">
                <a:solidFill>
                  <a:srgbClr val="97A8D2"/>
                </a:solidFill>
                <a:highlight>
                  <a:srgbClr val="141414"/>
                </a:highlight>
              </a:rPr>
              <a:t>HttpClient</a:t>
            </a:r>
            <a:r>
              <a:rPr lang="en-US">
                <a:solidFill>
                  <a:srgbClr val="97A8D2"/>
                </a:solidFill>
                <a:highlight>
                  <a:srgbClr val="141414"/>
                </a:highlight>
              </a:rPr>
              <a:t> 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Http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&lt;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h1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Weather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&lt;/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h1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if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(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data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== 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null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)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{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 &lt;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p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r>
              <a:rPr lang="en-US">
                <a:solidFill>
                  <a:srgbClr val="54A857"/>
                </a:solidFill>
                <a:highlight>
                  <a:srgbClr val="141414"/>
                </a:highlight>
              </a:rPr>
              <a:t>&lt;</a:t>
            </a:r>
            <a:r>
              <a:rPr lang="en-US" err="1">
                <a:solidFill>
                  <a:srgbClr val="E8BF6A"/>
                </a:solidFill>
                <a:highlight>
                  <a:srgbClr val="141414"/>
                </a:highlight>
              </a:rPr>
              <a:t>em</a:t>
            </a:r>
            <a:r>
              <a:rPr lang="en-US">
                <a:solidFill>
                  <a:srgbClr val="54A857"/>
                </a:solidFill>
                <a:highlight>
                  <a:srgbClr val="141414"/>
                </a:highlight>
              </a:rPr>
              <a:t>&gt;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Loading...</a:t>
            </a:r>
            <a:r>
              <a:rPr lang="en-US">
                <a:solidFill>
                  <a:srgbClr val="54A857"/>
                </a:solidFill>
                <a:highlight>
                  <a:srgbClr val="141414"/>
                </a:highlight>
              </a:rPr>
              <a:t>&lt;/</a:t>
            </a:r>
            <a:r>
              <a:rPr lang="en-US" err="1">
                <a:solidFill>
                  <a:srgbClr val="E8BF6A"/>
                </a:solidFill>
                <a:highlight>
                  <a:srgbClr val="141414"/>
                </a:highlight>
              </a:rPr>
              <a:t>em</a:t>
            </a:r>
            <a:r>
              <a:rPr lang="en-US">
                <a:solidFill>
                  <a:srgbClr val="54A857"/>
                </a:solidFill>
                <a:highlight>
                  <a:srgbClr val="141414"/>
                </a:highlight>
              </a:rPr>
              <a:t>&gt;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&lt;/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p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}</a:t>
            </a:r>
            <a:br>
              <a:rPr lang="en-US">
                <a:highlight>
                  <a:srgbClr val="141414"/>
                </a:highlight>
              </a:rPr>
            </a:b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else</a:t>
            </a:r>
            <a:br>
              <a:rPr lang="en-US" b="1">
                <a:highlight>
                  <a:srgbClr val="141414"/>
                </a:highlight>
              </a:rPr>
            </a:b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{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 &lt;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p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data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.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Summary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&lt;/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p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}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code 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{</a:t>
            </a:r>
            <a:br>
              <a:rPr lang="en-US">
                <a:highlight>
                  <a:srgbClr val="141414"/>
                </a:highlight>
              </a:rPr>
            </a:b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 private </a:t>
            </a:r>
            <a:r>
              <a:rPr lang="en-US" err="1">
                <a:solidFill>
                  <a:srgbClr val="97A8D2"/>
                </a:solidFill>
                <a:highlight>
                  <a:srgbClr val="141414"/>
                </a:highlight>
              </a:rPr>
              <a:t>WeatherForecast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? 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data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 protected override async </a:t>
            </a:r>
            <a:r>
              <a:rPr lang="en-US">
                <a:solidFill>
                  <a:srgbClr val="97A8D2"/>
                </a:solidFill>
                <a:highlight>
                  <a:srgbClr val="141414"/>
                </a:highlight>
              </a:rPr>
              <a:t>Task </a:t>
            </a:r>
            <a:r>
              <a:rPr lang="en-US" err="1">
                <a:solidFill>
                  <a:srgbClr val="FFC66D"/>
                </a:solidFill>
                <a:highlight>
                  <a:srgbClr val="141414"/>
                </a:highlight>
              </a:rPr>
              <a:t>OnInitializedAsync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() {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  data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= 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await </a:t>
            </a:r>
            <a:r>
              <a:rPr lang="en-US" err="1">
                <a:solidFill>
                  <a:srgbClr val="A782BB"/>
                </a:solidFill>
                <a:highlight>
                  <a:srgbClr val="141414"/>
                </a:highlight>
              </a:rPr>
              <a:t>Http</a:t>
            </a:r>
            <a:r>
              <a:rPr lang="en-US" err="1">
                <a:solidFill>
                  <a:srgbClr val="CFD2D5"/>
                </a:solidFill>
                <a:highlight>
                  <a:srgbClr val="141414"/>
                </a:highlight>
              </a:rPr>
              <a:t>.</a:t>
            </a:r>
            <a:r>
              <a:rPr lang="en-US" err="1">
                <a:solidFill>
                  <a:srgbClr val="FFC66D"/>
                </a:solidFill>
                <a:highlight>
                  <a:srgbClr val="141414"/>
                </a:highlight>
              </a:rPr>
              <a:t>GetFromJsonAsync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&lt;</a:t>
            </a:r>
            <a:r>
              <a:rPr lang="en-US" err="1">
                <a:solidFill>
                  <a:srgbClr val="97A8D2"/>
                </a:solidFill>
                <a:highlight>
                  <a:srgbClr val="141414"/>
                </a:highlight>
              </a:rPr>
              <a:t>WeatherForecast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&gt;(</a:t>
            </a:r>
            <a:r>
              <a:rPr lang="en-US">
                <a:solidFill>
                  <a:srgbClr val="8EA765"/>
                </a:solidFill>
                <a:highlight>
                  <a:srgbClr val="141414"/>
                </a:highlight>
              </a:rPr>
              <a:t>"sample-data/</a:t>
            </a:r>
            <a:r>
              <a:rPr lang="en-US" err="1">
                <a:solidFill>
                  <a:srgbClr val="8EA765"/>
                </a:solidFill>
                <a:highlight>
                  <a:srgbClr val="141414"/>
                </a:highlight>
              </a:rPr>
              <a:t>weather.json</a:t>
            </a:r>
            <a:r>
              <a:rPr lang="en-US">
                <a:solidFill>
                  <a:srgbClr val="8EA765"/>
                </a:solidFill>
                <a:highlight>
                  <a:srgbClr val="141414"/>
                </a:highlight>
              </a:rPr>
              <a:t>"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)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 }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 public class </a:t>
            </a:r>
            <a:r>
              <a:rPr lang="en-US" err="1">
                <a:solidFill>
                  <a:srgbClr val="97A8D2"/>
                </a:solidFill>
                <a:highlight>
                  <a:srgbClr val="141414"/>
                </a:highlight>
              </a:rPr>
              <a:t>WeatherForecast</a:t>
            </a:r>
            <a:r>
              <a:rPr lang="en-US">
                <a:solidFill>
                  <a:srgbClr val="97A8D2"/>
                </a:solidFill>
                <a:highlight>
                  <a:srgbClr val="141414"/>
                </a:highlight>
              </a:rPr>
              <a:t>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{</a:t>
            </a:r>
            <a:br>
              <a:rPr lang="en-US">
                <a:highlight>
                  <a:srgbClr val="141414"/>
                </a:highlight>
              </a:rPr>
            </a:b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  public </a:t>
            </a:r>
            <a:r>
              <a:rPr lang="en-US" err="1">
                <a:solidFill>
                  <a:srgbClr val="97A8D2"/>
                </a:solidFill>
                <a:highlight>
                  <a:srgbClr val="141414"/>
                </a:highlight>
              </a:rPr>
              <a:t>DateOnly</a:t>
            </a:r>
            <a:r>
              <a:rPr lang="en-US">
                <a:solidFill>
                  <a:srgbClr val="97A8D2"/>
                </a:solidFill>
                <a:highlight>
                  <a:srgbClr val="141414"/>
                </a:highlight>
              </a:rPr>
              <a:t> 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Date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{ </a:t>
            </a:r>
            <a:r>
              <a:rPr lang="en-US">
                <a:solidFill>
                  <a:srgbClr val="FFC66D"/>
                </a:solidFill>
                <a:highlight>
                  <a:srgbClr val="141414"/>
                </a:highlight>
              </a:rPr>
              <a:t>get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 </a:t>
            </a:r>
            <a:r>
              <a:rPr lang="en-US">
                <a:solidFill>
                  <a:srgbClr val="FFC66D"/>
                </a:solidFill>
                <a:highlight>
                  <a:srgbClr val="141414"/>
                </a:highlight>
              </a:rPr>
              <a:t>set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}</a:t>
            </a:r>
            <a:br>
              <a:rPr lang="en-US">
                <a:highlight>
                  <a:srgbClr val="141414"/>
                </a:highlight>
              </a:rPr>
            </a:b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  public int </a:t>
            </a:r>
            <a:r>
              <a:rPr lang="en-US" err="1">
                <a:solidFill>
                  <a:srgbClr val="A782BB"/>
                </a:solidFill>
                <a:highlight>
                  <a:srgbClr val="141414"/>
                </a:highlight>
              </a:rPr>
              <a:t>TemperatureC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{ </a:t>
            </a:r>
            <a:r>
              <a:rPr lang="en-US">
                <a:solidFill>
                  <a:srgbClr val="FFC66D"/>
                </a:solidFill>
                <a:highlight>
                  <a:srgbClr val="141414"/>
                </a:highlight>
              </a:rPr>
              <a:t>get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 </a:t>
            </a:r>
            <a:r>
              <a:rPr lang="en-US">
                <a:solidFill>
                  <a:srgbClr val="FFC66D"/>
                </a:solidFill>
                <a:highlight>
                  <a:srgbClr val="141414"/>
                </a:highlight>
              </a:rPr>
              <a:t>set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}</a:t>
            </a:r>
            <a:br>
              <a:rPr lang="en-US">
                <a:highlight>
                  <a:srgbClr val="141414"/>
                </a:highlight>
              </a:rPr>
            </a:b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  public string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? 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Summary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{ </a:t>
            </a:r>
            <a:r>
              <a:rPr lang="en-US">
                <a:solidFill>
                  <a:srgbClr val="FFC66D"/>
                </a:solidFill>
                <a:highlight>
                  <a:srgbClr val="141414"/>
                </a:highlight>
              </a:rPr>
              <a:t>get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 </a:t>
            </a:r>
            <a:r>
              <a:rPr lang="en-US">
                <a:solidFill>
                  <a:srgbClr val="FFC66D"/>
                </a:solidFill>
                <a:highlight>
                  <a:srgbClr val="141414"/>
                </a:highlight>
              </a:rPr>
              <a:t>set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}</a:t>
            </a:r>
            <a:br>
              <a:rPr lang="en-US">
                <a:highlight>
                  <a:srgbClr val="141414"/>
                </a:highlight>
              </a:rPr>
            </a:b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  public int </a:t>
            </a:r>
            <a:r>
              <a:rPr lang="en-US" err="1">
                <a:solidFill>
                  <a:srgbClr val="A782BB"/>
                </a:solidFill>
                <a:highlight>
                  <a:srgbClr val="141414"/>
                </a:highlight>
              </a:rPr>
              <a:t>TemperatureF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=&gt; </a:t>
            </a:r>
            <a:r>
              <a:rPr lang="en-US">
                <a:solidFill>
                  <a:srgbClr val="6897BB"/>
                </a:solidFill>
                <a:highlight>
                  <a:srgbClr val="141414"/>
                </a:highlight>
              </a:rPr>
              <a:t>32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+ (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int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)(</a:t>
            </a:r>
            <a:r>
              <a:rPr lang="en-US" err="1">
                <a:solidFill>
                  <a:srgbClr val="A782BB"/>
                </a:solidFill>
                <a:highlight>
                  <a:srgbClr val="141414"/>
                </a:highlight>
              </a:rPr>
              <a:t>TemperatureC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/ </a:t>
            </a:r>
            <a:r>
              <a:rPr lang="en-US">
                <a:solidFill>
                  <a:srgbClr val="6897BB"/>
                </a:solidFill>
                <a:highlight>
                  <a:srgbClr val="141414"/>
                </a:highlight>
              </a:rPr>
              <a:t>0.5556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)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 }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858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3" grpId="2"/>
      <p:bldP spid="13" grpId="3"/>
      <p:bldP spid="13" grpId="4"/>
      <p:bldP spid="13" grpId="5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88704-FADB-661B-F2FF-984CC7F20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F7159664-C9E4-797D-258C-E032C26829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9937881" y="9306279"/>
            <a:ext cx="518462" cy="816476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C5EFC9B-72A7-E62D-67E9-32574AE360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7156" t="39024"/>
          <a:stretch>
            <a:fillRect/>
          </a:stretch>
        </p:blipFill>
        <p:spPr>
          <a:xfrm>
            <a:off x="-12221" y="-9525"/>
            <a:ext cx="1040921" cy="1011697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6238F119-077B-3372-7802-A5F94201356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224828" y="347917"/>
            <a:ext cx="2139855" cy="578652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E1608691-528D-B4A6-E65C-05CC67BE316A}"/>
              </a:ext>
            </a:extLst>
          </p:cNvPr>
          <p:cNvSpPr txBox="1"/>
          <p:nvPr/>
        </p:nvSpPr>
        <p:spPr>
          <a:xfrm>
            <a:off x="661718" y="1003111"/>
            <a:ext cx="808650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BE" sz="5400" b="1" err="1">
                <a:solidFill>
                  <a:srgbClr val="E8870A"/>
                </a:solidFill>
                <a:latin typeface="Open Sans Bold"/>
                <a:ea typeface="Calibri"/>
                <a:cs typeface="Calibri"/>
              </a:rPr>
              <a:t>Layouts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D0E99BA8-843D-345F-B626-F714C6AEB61C}"/>
              </a:ext>
            </a:extLst>
          </p:cNvPr>
          <p:cNvSpPr txBox="1">
            <a:spLocks/>
          </p:cNvSpPr>
          <p:nvPr/>
        </p:nvSpPr>
        <p:spPr>
          <a:xfrm>
            <a:off x="662077" y="2419709"/>
            <a:ext cx="8472219" cy="50273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Vaste 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structuur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voor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 alle 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pagina's</a:t>
            </a:r>
            <a:endParaRPr lang="en-US" sz="2200">
              <a:solidFill>
                <a:srgbClr val="F2F2F2"/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Vergelijkbaar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 met </a:t>
            </a:r>
          </a:p>
          <a:p>
            <a:pPr lvl="1"/>
            <a:r>
              <a:rPr lang="en-US" sz="1800">
                <a:solidFill>
                  <a:srgbClr val="F2F2F2"/>
                </a:solidFill>
                <a:ea typeface="Calibri"/>
                <a:cs typeface="Calibri"/>
              </a:rPr>
              <a:t>_layout in ASP.NET Web MVC</a:t>
            </a:r>
          </a:p>
          <a:p>
            <a:pPr lvl="1"/>
            <a:r>
              <a:rPr lang="en-US" sz="1800">
                <a:solidFill>
                  <a:srgbClr val="F2F2F2"/>
                </a:solidFill>
                <a:ea typeface="Calibri"/>
                <a:cs typeface="Calibri"/>
              </a:rPr>
              <a:t>Layout </a:t>
            </a:r>
            <a:r>
              <a:rPr lang="en-US" sz="1800" err="1">
                <a:solidFill>
                  <a:srgbClr val="F2F2F2"/>
                </a:solidFill>
                <a:ea typeface="Calibri"/>
                <a:cs typeface="Calibri"/>
              </a:rPr>
              <a:t>componenten</a:t>
            </a:r>
            <a:r>
              <a:rPr lang="en-US" sz="1800">
                <a:solidFill>
                  <a:srgbClr val="F2F2F2"/>
                </a:solidFill>
                <a:ea typeface="Calibri"/>
                <a:cs typeface="Calibri"/>
              </a:rPr>
              <a:t> in </a:t>
            </a:r>
            <a:r>
              <a:rPr lang="en-US" sz="1800" err="1">
                <a:solidFill>
                  <a:srgbClr val="F2F2F2"/>
                </a:solidFill>
                <a:ea typeface="Calibri"/>
                <a:cs typeface="Calibri"/>
              </a:rPr>
              <a:t>andere</a:t>
            </a:r>
            <a:r>
              <a:rPr lang="en-US" sz="1800">
                <a:solidFill>
                  <a:srgbClr val="F2F2F2"/>
                </a:solidFill>
                <a:ea typeface="Calibri"/>
                <a:cs typeface="Calibri"/>
              </a:rPr>
              <a:t> SPA frameworks</a:t>
            </a:r>
          </a:p>
          <a:p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Shared component</a:t>
            </a:r>
          </a:p>
          <a:p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@Body 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voor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 rendering pages</a:t>
            </a:r>
          </a:p>
          <a:p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Ideaal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voor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 header/footer/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navigatie</a:t>
            </a:r>
          </a:p>
          <a:p>
            <a:pPr marL="0" indent="0">
              <a:buNone/>
            </a:pPr>
            <a:endParaRPr lang="en-US" sz="2200">
              <a:solidFill>
                <a:srgbClr val="F2F2F2"/>
              </a:solidFill>
              <a:ea typeface="Calibri"/>
              <a:cs typeface="Calibri"/>
            </a:endParaRPr>
          </a:p>
          <a:p>
            <a:endParaRPr lang="en-US" sz="2200">
              <a:solidFill>
                <a:srgbClr val="F2F2F2"/>
              </a:solidFill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176CB-BBDD-5D57-949F-C631287966B2}"/>
              </a:ext>
            </a:extLst>
          </p:cNvPr>
          <p:cNvSpPr txBox="1"/>
          <p:nvPr/>
        </p:nvSpPr>
        <p:spPr>
          <a:xfrm>
            <a:off x="7847881" y="1464334"/>
            <a:ext cx="1014035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inherits </a:t>
            </a:r>
            <a:r>
              <a:rPr lang="en-US" err="1">
                <a:solidFill>
                  <a:srgbClr val="97A8D2"/>
                </a:solidFill>
                <a:highlight>
                  <a:srgbClr val="141414"/>
                </a:highlight>
              </a:rPr>
              <a:t>LayoutComponentBase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&lt;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div </a:t>
            </a:r>
            <a:r>
              <a:rPr lang="en-US">
                <a:solidFill>
                  <a:srgbClr val="BABABA"/>
                </a:solidFill>
                <a:highlight>
                  <a:srgbClr val="141414"/>
                </a:highlight>
              </a:rPr>
              <a:t>class</a:t>
            </a:r>
            <a:r>
              <a:rPr lang="en-US">
                <a:solidFill>
                  <a:srgbClr val="A5C261"/>
                </a:solidFill>
                <a:highlight>
                  <a:srgbClr val="141414"/>
                </a:highlight>
              </a:rPr>
              <a:t>="page"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54A857"/>
                </a:solidFill>
                <a:highlight>
                  <a:srgbClr val="141414"/>
                </a:highlight>
              </a:rPr>
              <a:t> &lt;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div </a:t>
            </a:r>
            <a:r>
              <a:rPr lang="en-US">
                <a:solidFill>
                  <a:srgbClr val="BABABA"/>
                </a:solidFill>
                <a:highlight>
                  <a:srgbClr val="141414"/>
                </a:highlight>
              </a:rPr>
              <a:t>class</a:t>
            </a:r>
            <a:r>
              <a:rPr lang="en-US">
                <a:solidFill>
                  <a:srgbClr val="A5C261"/>
                </a:solidFill>
                <a:highlight>
                  <a:srgbClr val="141414"/>
                </a:highlight>
              </a:rPr>
              <a:t>="sidebar"</a:t>
            </a:r>
            <a:r>
              <a:rPr lang="en-US">
                <a:solidFill>
                  <a:srgbClr val="54A857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359FF4"/>
                </a:solidFill>
                <a:highlight>
                  <a:srgbClr val="141414"/>
                </a:highlight>
              </a:rPr>
              <a:t>  &lt;</a:t>
            </a:r>
            <a:r>
              <a:rPr lang="en-US" b="1" err="1">
                <a:solidFill>
                  <a:srgbClr val="CC7832"/>
                </a:solidFill>
                <a:highlight>
                  <a:srgbClr val="141414"/>
                </a:highlight>
              </a:rPr>
              <a:t>NavMenu</a:t>
            </a:r>
            <a:r>
              <a:rPr lang="en-US">
                <a:solidFill>
                  <a:srgbClr val="359FF4"/>
                </a:solidFill>
                <a:highlight>
                  <a:srgbClr val="141414"/>
                </a:highlight>
              </a:rPr>
              <a:t>/&gt;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54A857"/>
                </a:solidFill>
                <a:highlight>
                  <a:srgbClr val="141414"/>
                </a:highlight>
              </a:rPr>
              <a:t> &lt;/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div</a:t>
            </a:r>
            <a:r>
              <a:rPr lang="en-US">
                <a:solidFill>
                  <a:srgbClr val="54A857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54A857"/>
                </a:solidFill>
                <a:highlight>
                  <a:srgbClr val="141414"/>
                </a:highlight>
              </a:rPr>
              <a:t> &lt;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main</a:t>
            </a:r>
            <a:r>
              <a:rPr lang="en-US">
                <a:solidFill>
                  <a:srgbClr val="54A857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359FF4"/>
                </a:solidFill>
                <a:highlight>
                  <a:srgbClr val="141414"/>
                </a:highlight>
              </a:rPr>
              <a:t>  &lt;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div </a:t>
            </a:r>
            <a:r>
              <a:rPr lang="en-US">
                <a:solidFill>
                  <a:srgbClr val="BABABA"/>
                </a:solidFill>
                <a:highlight>
                  <a:srgbClr val="141414"/>
                </a:highlight>
              </a:rPr>
              <a:t>class</a:t>
            </a:r>
            <a:r>
              <a:rPr lang="en-US">
                <a:solidFill>
                  <a:srgbClr val="A5C261"/>
                </a:solidFill>
                <a:highlight>
                  <a:srgbClr val="141414"/>
                </a:highlight>
              </a:rPr>
              <a:t>="top-row px-4 auth"</a:t>
            </a:r>
            <a:r>
              <a:rPr lang="en-US">
                <a:solidFill>
                  <a:srgbClr val="359FF4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6E7ED9"/>
                </a:solidFill>
                <a:highlight>
                  <a:srgbClr val="141414"/>
                </a:highlight>
              </a:rPr>
              <a:t>   &lt;</a:t>
            </a:r>
            <a:r>
              <a:rPr lang="en-US" b="1" err="1">
                <a:solidFill>
                  <a:srgbClr val="CC7832"/>
                </a:solidFill>
                <a:highlight>
                  <a:srgbClr val="141414"/>
                </a:highlight>
              </a:rPr>
              <a:t>LoginDisplay</a:t>
            </a:r>
            <a:r>
              <a:rPr lang="en-US">
                <a:solidFill>
                  <a:srgbClr val="6E7ED9"/>
                </a:solidFill>
                <a:highlight>
                  <a:srgbClr val="141414"/>
                </a:highlight>
              </a:rPr>
              <a:t>/&gt;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6E7ED9"/>
                </a:solidFill>
                <a:highlight>
                  <a:srgbClr val="141414"/>
                </a:highlight>
              </a:rPr>
              <a:t>   &lt;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a </a:t>
            </a:r>
            <a:r>
              <a:rPr lang="en-US" err="1">
                <a:solidFill>
                  <a:srgbClr val="BABABA"/>
                </a:solidFill>
                <a:highlight>
                  <a:srgbClr val="141414"/>
                </a:highlight>
              </a:rPr>
              <a:t>href</a:t>
            </a:r>
            <a:r>
              <a:rPr lang="en-US">
                <a:solidFill>
                  <a:srgbClr val="A5C261"/>
                </a:solidFill>
                <a:highlight>
                  <a:srgbClr val="141414"/>
                </a:highlight>
              </a:rPr>
              <a:t>="https://learn.microsoft.com/</a:t>
            </a:r>
            <a:r>
              <a:rPr lang="en-US" err="1">
                <a:solidFill>
                  <a:srgbClr val="A5C261"/>
                </a:solidFill>
                <a:highlight>
                  <a:srgbClr val="141414"/>
                </a:highlight>
              </a:rPr>
              <a:t>aspnet</a:t>
            </a:r>
            <a:r>
              <a:rPr lang="en-US">
                <a:solidFill>
                  <a:srgbClr val="A5C261"/>
                </a:solidFill>
                <a:highlight>
                  <a:srgbClr val="141414"/>
                </a:highlight>
              </a:rPr>
              <a:t>/core/" </a:t>
            </a:r>
            <a:r>
              <a:rPr lang="en-US">
                <a:solidFill>
                  <a:srgbClr val="BABABA"/>
                </a:solidFill>
                <a:highlight>
                  <a:srgbClr val="141414"/>
                </a:highlight>
              </a:rPr>
              <a:t>target</a:t>
            </a:r>
            <a:r>
              <a:rPr lang="en-US">
                <a:solidFill>
                  <a:srgbClr val="A5C261"/>
                </a:solidFill>
                <a:highlight>
                  <a:srgbClr val="141414"/>
                </a:highlight>
              </a:rPr>
              <a:t>="_blank"</a:t>
            </a:r>
            <a:r>
              <a:rPr lang="en-US">
                <a:solidFill>
                  <a:srgbClr val="6E7ED9"/>
                </a:solidFill>
                <a:highlight>
                  <a:srgbClr val="141414"/>
                </a:highlight>
              </a:rPr>
              <a:t>&gt;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About</a:t>
            </a:r>
            <a:r>
              <a:rPr lang="en-US">
                <a:solidFill>
                  <a:srgbClr val="6E7ED9"/>
                </a:solidFill>
                <a:highlight>
                  <a:srgbClr val="141414"/>
                </a:highlight>
              </a:rPr>
              <a:t>&lt;/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a</a:t>
            </a:r>
            <a:r>
              <a:rPr lang="en-US">
                <a:solidFill>
                  <a:srgbClr val="6E7ED9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359FF4"/>
                </a:solidFill>
                <a:highlight>
                  <a:srgbClr val="141414"/>
                </a:highlight>
              </a:rPr>
              <a:t>  &lt;/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div</a:t>
            </a:r>
            <a:r>
              <a:rPr lang="en-US">
                <a:solidFill>
                  <a:srgbClr val="359FF4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359FF4"/>
                </a:solidFill>
                <a:highlight>
                  <a:srgbClr val="141414"/>
                </a:highlight>
              </a:rPr>
              <a:t>  &lt;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article </a:t>
            </a:r>
            <a:r>
              <a:rPr lang="en-US">
                <a:solidFill>
                  <a:srgbClr val="BABABA"/>
                </a:solidFill>
                <a:highlight>
                  <a:srgbClr val="141414"/>
                </a:highlight>
              </a:rPr>
              <a:t>class</a:t>
            </a:r>
            <a:r>
              <a:rPr lang="en-US">
                <a:solidFill>
                  <a:srgbClr val="A5C261"/>
                </a:solidFill>
                <a:highlight>
                  <a:srgbClr val="141414"/>
                </a:highlight>
              </a:rPr>
              <a:t>="content px-4"</a:t>
            </a:r>
            <a:r>
              <a:rPr lang="en-US">
                <a:solidFill>
                  <a:srgbClr val="359FF4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   @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Body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359FF4"/>
                </a:solidFill>
                <a:highlight>
                  <a:srgbClr val="141414"/>
                </a:highlight>
              </a:rPr>
              <a:t>  &lt;/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article</a:t>
            </a:r>
            <a:r>
              <a:rPr lang="en-US">
                <a:solidFill>
                  <a:srgbClr val="359FF4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54A857"/>
                </a:solidFill>
                <a:highlight>
                  <a:srgbClr val="141414"/>
                </a:highlight>
              </a:rPr>
              <a:t> &lt;/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main</a:t>
            </a:r>
            <a:r>
              <a:rPr lang="en-US">
                <a:solidFill>
                  <a:srgbClr val="54A857"/>
                </a:solidFill>
                <a:highlight>
                  <a:srgbClr val="141414"/>
                </a:highlight>
              </a:rPr>
              <a:t>&gt;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&lt;/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div</a:t>
            </a:r>
            <a:r>
              <a:rPr lang="en-US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05980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3" grpId="2"/>
      <p:bldP spid="13" grpId="3"/>
      <p:bldP spid="13" grpId="4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8F477-805B-B53F-64F6-ED883C5CB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574F0811-A0B4-A873-CF45-A5B542FAED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9937881" y="9306279"/>
            <a:ext cx="518462" cy="816476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0BB9A183-DCD4-74ED-4C6A-BFA931BD7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7156" t="39024"/>
          <a:stretch>
            <a:fillRect/>
          </a:stretch>
        </p:blipFill>
        <p:spPr>
          <a:xfrm>
            <a:off x="-12221" y="-9525"/>
            <a:ext cx="1040921" cy="1011697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D6BAA7B4-B6F6-8C18-4817-4E5A9D67BB7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224828" y="347917"/>
            <a:ext cx="2139855" cy="578652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12E2C4B1-E30E-46DA-6159-D52464DC1365}"/>
              </a:ext>
            </a:extLst>
          </p:cNvPr>
          <p:cNvSpPr txBox="1"/>
          <p:nvPr/>
        </p:nvSpPr>
        <p:spPr>
          <a:xfrm>
            <a:off x="661718" y="1003111"/>
            <a:ext cx="808650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BE" sz="5400" b="1">
                <a:solidFill>
                  <a:srgbClr val="E8870A"/>
                </a:solidFill>
                <a:latin typeface="Open Sans Bold"/>
                <a:ea typeface="Calibri"/>
                <a:cs typeface="Calibri"/>
              </a:rPr>
              <a:t>Routing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43CC58FB-3A78-13DD-8AAB-F6F149E433F8}"/>
              </a:ext>
            </a:extLst>
          </p:cNvPr>
          <p:cNvSpPr txBox="1">
            <a:spLocks/>
          </p:cNvSpPr>
          <p:nvPr/>
        </p:nvSpPr>
        <p:spPr>
          <a:xfrm>
            <a:off x="662077" y="2419709"/>
            <a:ext cx="8472219" cy="50273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@page directive 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bovenaan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 razor file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Router component (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App.razor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) 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matcht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url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aan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 pages</a:t>
            </a:r>
          </a:p>
          <a:p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Route parameters</a:t>
            </a:r>
          </a:p>
          <a:p>
            <a:pPr lvl="1"/>
            <a:endParaRPr lang="en-US" sz="1800">
              <a:solidFill>
                <a:srgbClr val="F2F2F2"/>
              </a:solidFill>
              <a:ea typeface="Calibri"/>
              <a:cs typeface="Calibri"/>
            </a:endParaRPr>
          </a:p>
          <a:p>
            <a:pPr lvl="1"/>
            <a:endParaRPr lang="en-US" sz="1800">
              <a:solidFill>
                <a:srgbClr val="F2F2F2"/>
              </a:solidFill>
              <a:ea typeface="Calibri"/>
              <a:cs typeface="Calibri"/>
            </a:endParaRPr>
          </a:p>
          <a:p>
            <a:pPr lvl="1"/>
            <a:endParaRPr lang="en-US" sz="1800">
              <a:solidFill>
                <a:srgbClr val="F2F2F2"/>
              </a:solidFill>
              <a:ea typeface="Calibri"/>
              <a:cs typeface="Calibri"/>
            </a:endParaRPr>
          </a:p>
          <a:p>
            <a:pPr lvl="1"/>
            <a:endParaRPr lang="en-US" sz="1800">
              <a:solidFill>
                <a:srgbClr val="F2F2F2"/>
              </a:solidFill>
              <a:ea typeface="Calibri"/>
              <a:cs typeface="Calibri"/>
            </a:endParaRPr>
          </a:p>
          <a:p>
            <a:pPr lvl="1"/>
            <a:endParaRPr lang="en-US" sz="1800">
              <a:solidFill>
                <a:srgbClr val="F2F2F2"/>
              </a:solidFill>
              <a:ea typeface="Calibri"/>
              <a:cs typeface="Calibri"/>
            </a:endParaRPr>
          </a:p>
          <a:p>
            <a:endParaRPr lang="en-US" sz="2200">
              <a:solidFill>
                <a:srgbClr val="F2F2F2"/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Programmatisch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 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navigeren</a:t>
            </a:r>
            <a:endParaRPr lang="en-US" sz="2200">
              <a:solidFill>
                <a:srgbClr val="F2F2F2"/>
              </a:solidFill>
              <a:ea typeface="Calibri"/>
              <a:cs typeface="Calibri"/>
            </a:endParaRPr>
          </a:p>
          <a:p>
            <a:pPr lvl="1"/>
            <a:r>
              <a:rPr lang="en-US" sz="1800" err="1">
                <a:solidFill>
                  <a:srgbClr val="F2F2F2"/>
                </a:solidFill>
                <a:ea typeface="Calibri"/>
                <a:cs typeface="Calibri"/>
              </a:rPr>
              <a:t>NavigationManager.NavigateTo</a:t>
            </a:r>
            <a:r>
              <a:rPr lang="en-US" sz="1800">
                <a:solidFill>
                  <a:srgbClr val="F2F2F2"/>
                </a:solidFill>
                <a:ea typeface="Calibri"/>
                <a:cs typeface="Calibri"/>
              </a:rPr>
              <a:t>("/route")</a:t>
            </a:r>
          </a:p>
          <a:p>
            <a:endParaRPr lang="en-US" sz="2200">
              <a:solidFill>
                <a:srgbClr val="F2F2F2"/>
              </a:solidFill>
              <a:ea typeface="Calibri"/>
              <a:cs typeface="Calibri"/>
            </a:endParaRPr>
          </a:p>
          <a:p>
            <a:endParaRPr lang="en-US" sz="2200">
              <a:solidFill>
                <a:srgbClr val="F2F2F2"/>
              </a:solidFill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4BDD6B-DEAA-852A-61E6-96E42A04A8B3}"/>
              </a:ext>
            </a:extLst>
          </p:cNvPr>
          <p:cNvSpPr txBox="1"/>
          <p:nvPr/>
        </p:nvSpPr>
        <p:spPr>
          <a:xfrm>
            <a:off x="1027622" y="3658679"/>
            <a:ext cx="5455129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 sz="1400" b="1">
                <a:solidFill>
                  <a:srgbClr val="CC7832"/>
                </a:solidFill>
                <a:highlight>
                  <a:srgbClr val="141414"/>
                </a:highlight>
              </a:rPr>
              <a:t>page </a:t>
            </a:r>
            <a:r>
              <a:rPr lang="en-US" sz="1400">
                <a:solidFill>
                  <a:srgbClr val="8EA765"/>
                </a:solidFill>
                <a:highlight>
                  <a:srgbClr val="141414"/>
                </a:highlight>
              </a:rPr>
              <a:t>"/</a:t>
            </a:r>
            <a:r>
              <a:rPr lang="en-US" sz="1400" err="1">
                <a:solidFill>
                  <a:srgbClr val="8EA765"/>
                </a:solidFill>
                <a:highlight>
                  <a:srgbClr val="141414"/>
                </a:highlight>
              </a:rPr>
              <a:t>productdetails</a:t>
            </a:r>
            <a:r>
              <a:rPr lang="en-US" sz="1400">
                <a:solidFill>
                  <a:srgbClr val="8EA765"/>
                </a:solidFill>
                <a:highlight>
                  <a:srgbClr val="141414"/>
                </a:highlight>
              </a:rPr>
              <a:t>/</a:t>
            </a:r>
            <a:r>
              <a:rPr lang="en-US" sz="1400">
                <a:solidFill>
                  <a:srgbClr val="62CCFF"/>
                </a:solidFill>
                <a:highlight>
                  <a:srgbClr val="141414"/>
                </a:highlight>
              </a:rPr>
              <a:t>{</a:t>
            </a:r>
            <a:r>
              <a:rPr lang="en-US" sz="1400" err="1">
                <a:solidFill>
                  <a:srgbClr val="62CCFF"/>
                </a:solidFill>
                <a:highlight>
                  <a:srgbClr val="141414"/>
                </a:highlight>
              </a:rPr>
              <a:t>ProductId:int</a:t>
            </a:r>
            <a:r>
              <a:rPr lang="en-US" sz="1400">
                <a:solidFill>
                  <a:srgbClr val="62CCFF"/>
                </a:solidFill>
                <a:highlight>
                  <a:srgbClr val="141414"/>
                </a:highlight>
              </a:rPr>
              <a:t>}</a:t>
            </a:r>
            <a:r>
              <a:rPr lang="en-US" sz="1400">
                <a:solidFill>
                  <a:srgbClr val="8EA765"/>
                </a:solidFill>
                <a:highlight>
                  <a:srgbClr val="141414"/>
                </a:highlight>
              </a:rPr>
              <a:t>"</a:t>
            </a:r>
            <a:br>
              <a:rPr lang="en-US" sz="1400">
                <a:highlight>
                  <a:srgbClr val="141414"/>
                </a:highlight>
              </a:rPr>
            </a:br>
            <a:br>
              <a:rPr lang="en-US" sz="1400">
                <a:highlight>
                  <a:srgbClr val="141414"/>
                </a:highlight>
              </a:rPr>
            </a:br>
            <a:r>
              <a:rPr lang="en-US" sz="1400">
                <a:solidFill>
                  <a:srgbClr val="E8BA36"/>
                </a:solidFill>
                <a:highlight>
                  <a:srgbClr val="141414"/>
                </a:highlight>
              </a:rPr>
              <a:t>&lt;</a:t>
            </a:r>
            <a:r>
              <a:rPr lang="en-US" sz="1400">
                <a:solidFill>
                  <a:srgbClr val="E8BF6A"/>
                </a:solidFill>
                <a:highlight>
                  <a:srgbClr val="141414"/>
                </a:highlight>
              </a:rPr>
              <a:t>h1</a:t>
            </a:r>
            <a:r>
              <a:rPr lang="en-US" sz="1400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r>
              <a:rPr lang="en-US" sz="1400">
                <a:solidFill>
                  <a:srgbClr val="CFD2D5"/>
                </a:solidFill>
                <a:highlight>
                  <a:srgbClr val="141414"/>
                </a:highlight>
              </a:rPr>
              <a:t>Product Details for ID: </a:t>
            </a:r>
            <a:r>
              <a:rPr lang="en-US" sz="1400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 sz="1400">
                <a:solidFill>
                  <a:srgbClr val="A782BB"/>
                </a:solidFill>
                <a:highlight>
                  <a:srgbClr val="141414"/>
                </a:highlight>
              </a:rPr>
              <a:t>ProductId</a:t>
            </a:r>
            <a:r>
              <a:rPr lang="en-US" sz="1400">
                <a:solidFill>
                  <a:srgbClr val="E8BA36"/>
                </a:solidFill>
                <a:highlight>
                  <a:srgbClr val="141414"/>
                </a:highlight>
              </a:rPr>
              <a:t>&lt;/</a:t>
            </a:r>
            <a:r>
              <a:rPr lang="en-US" sz="1400">
                <a:solidFill>
                  <a:srgbClr val="E8BF6A"/>
                </a:solidFill>
                <a:highlight>
                  <a:srgbClr val="141414"/>
                </a:highlight>
              </a:rPr>
              <a:t>h1</a:t>
            </a:r>
            <a:r>
              <a:rPr lang="en-US" sz="1400">
                <a:solidFill>
                  <a:srgbClr val="E8BA36"/>
                </a:solidFill>
                <a:highlight>
                  <a:srgbClr val="141414"/>
                </a:highlight>
              </a:rPr>
              <a:t>&gt;</a:t>
            </a:r>
            <a:br>
              <a:rPr lang="en-US" sz="1400">
                <a:highlight>
                  <a:srgbClr val="141414"/>
                </a:highlight>
              </a:rPr>
            </a:br>
            <a:br>
              <a:rPr lang="en-US" sz="1400">
                <a:highlight>
                  <a:srgbClr val="141414"/>
                </a:highlight>
              </a:rPr>
            </a:br>
            <a:r>
              <a:rPr lang="en-US" sz="1400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 sz="1400" b="1">
                <a:solidFill>
                  <a:srgbClr val="CC7832"/>
                </a:solidFill>
                <a:highlight>
                  <a:srgbClr val="141414"/>
                </a:highlight>
              </a:rPr>
              <a:t>code </a:t>
            </a:r>
            <a:r>
              <a:rPr lang="en-US" sz="1400">
                <a:solidFill>
                  <a:srgbClr val="E8BF6A"/>
                </a:solidFill>
                <a:highlight>
                  <a:srgbClr val="141414"/>
                </a:highlight>
              </a:rPr>
              <a:t>{</a:t>
            </a:r>
            <a:br>
              <a:rPr lang="en-US" sz="1400">
                <a:highlight>
                  <a:srgbClr val="141414"/>
                </a:highlight>
              </a:rPr>
            </a:br>
            <a:r>
              <a:rPr lang="en-US" sz="1400">
                <a:solidFill>
                  <a:srgbClr val="CFD2D5"/>
                </a:solidFill>
                <a:highlight>
                  <a:srgbClr val="141414"/>
                </a:highlight>
              </a:rPr>
              <a:t> [</a:t>
            </a:r>
            <a:r>
              <a:rPr lang="en-US" sz="1400">
                <a:solidFill>
                  <a:srgbClr val="97A8D2"/>
                </a:solidFill>
                <a:highlight>
                  <a:srgbClr val="141414"/>
                </a:highlight>
              </a:rPr>
              <a:t>Parameter</a:t>
            </a:r>
            <a:r>
              <a:rPr lang="en-US" sz="1400">
                <a:solidFill>
                  <a:srgbClr val="CFD2D5"/>
                </a:solidFill>
                <a:highlight>
                  <a:srgbClr val="141414"/>
                </a:highlight>
              </a:rPr>
              <a:t>] </a:t>
            </a:r>
            <a:r>
              <a:rPr lang="en-US" sz="1400">
                <a:solidFill>
                  <a:srgbClr val="808080"/>
                </a:solidFill>
                <a:highlight>
                  <a:srgbClr val="141414"/>
                </a:highlight>
              </a:rPr>
              <a:t>// </a:t>
            </a:r>
            <a:r>
              <a:rPr lang="en-US" sz="1400" err="1">
                <a:solidFill>
                  <a:srgbClr val="808080"/>
                </a:solidFill>
                <a:highlight>
                  <a:srgbClr val="141414"/>
                </a:highlight>
              </a:rPr>
              <a:t>Belangrijk</a:t>
            </a:r>
            <a:r>
              <a:rPr lang="en-US" sz="1400">
                <a:solidFill>
                  <a:srgbClr val="808080"/>
                </a:solidFill>
                <a:highlight>
                  <a:srgbClr val="141414"/>
                </a:highlight>
              </a:rPr>
              <a:t>!</a:t>
            </a:r>
            <a:r>
              <a:rPr lang="en-US" sz="1400">
                <a:highlight>
                  <a:srgbClr val="141414"/>
                </a:highlight>
              </a:rPr>
              <a:t> </a:t>
            </a:r>
            <a:br>
              <a:rPr lang="en-US" sz="1400">
                <a:highlight>
                  <a:srgbClr val="141414"/>
                </a:highlight>
              </a:rPr>
            </a:br>
            <a:r>
              <a:rPr lang="en-US" sz="1400" b="1">
                <a:solidFill>
                  <a:srgbClr val="CC7832"/>
                </a:solidFill>
                <a:highlight>
                  <a:srgbClr val="141414"/>
                </a:highlight>
              </a:rPr>
              <a:t> public int </a:t>
            </a:r>
            <a:r>
              <a:rPr lang="en-US" sz="1400" err="1">
                <a:solidFill>
                  <a:srgbClr val="A782BB"/>
                </a:solidFill>
                <a:highlight>
                  <a:srgbClr val="141414"/>
                </a:highlight>
              </a:rPr>
              <a:t>ProductId</a:t>
            </a:r>
            <a:r>
              <a:rPr lang="en-US" sz="1400">
                <a:solidFill>
                  <a:srgbClr val="A782BB"/>
                </a:solidFill>
                <a:highlight>
                  <a:srgbClr val="141414"/>
                </a:highlight>
              </a:rPr>
              <a:t> </a:t>
            </a:r>
            <a:r>
              <a:rPr lang="en-US" sz="1400">
                <a:solidFill>
                  <a:srgbClr val="CFD2D5"/>
                </a:solidFill>
                <a:highlight>
                  <a:srgbClr val="141414"/>
                </a:highlight>
              </a:rPr>
              <a:t>{ </a:t>
            </a:r>
            <a:r>
              <a:rPr lang="en-US" sz="1400">
                <a:solidFill>
                  <a:srgbClr val="FFC66D"/>
                </a:solidFill>
                <a:highlight>
                  <a:srgbClr val="141414"/>
                </a:highlight>
              </a:rPr>
              <a:t>get</a:t>
            </a:r>
            <a:r>
              <a:rPr lang="en-US" sz="1400">
                <a:solidFill>
                  <a:srgbClr val="CC7832"/>
                </a:solidFill>
                <a:highlight>
                  <a:srgbClr val="141414"/>
                </a:highlight>
              </a:rPr>
              <a:t>; </a:t>
            </a:r>
            <a:r>
              <a:rPr lang="en-US" sz="1400">
                <a:solidFill>
                  <a:srgbClr val="FFC66D"/>
                </a:solidFill>
                <a:highlight>
                  <a:srgbClr val="141414"/>
                </a:highlight>
              </a:rPr>
              <a:t>set</a:t>
            </a:r>
            <a:r>
              <a:rPr lang="en-US" sz="1400">
                <a:solidFill>
                  <a:srgbClr val="CC7832"/>
                </a:solidFill>
                <a:highlight>
                  <a:srgbClr val="141414"/>
                </a:highlight>
              </a:rPr>
              <a:t>; </a:t>
            </a:r>
            <a:r>
              <a:rPr lang="en-US" sz="1400">
                <a:solidFill>
                  <a:srgbClr val="CFD2D5"/>
                </a:solidFill>
                <a:highlight>
                  <a:srgbClr val="141414"/>
                </a:highlight>
              </a:rPr>
              <a:t>}</a:t>
            </a:r>
            <a:br>
              <a:rPr lang="en-US" sz="1400">
                <a:highlight>
                  <a:srgbClr val="141414"/>
                </a:highlight>
              </a:rPr>
            </a:br>
            <a:r>
              <a:rPr lang="en-US" sz="1400">
                <a:solidFill>
                  <a:srgbClr val="E8BF6A"/>
                </a:solidFill>
                <a:highlight>
                  <a:srgbClr val="141414"/>
                </a:highlight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983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3" grpId="2"/>
      <p:bldP spid="13" grpId="3"/>
      <p:bldP spid="13" grpId="4"/>
      <p:bldP spid="13" grpId="5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B8F3C0-CCF0-C85B-29E6-98668467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19871D1A-533A-270A-D5A7-F02D0D23F8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9937881" y="9306279"/>
            <a:ext cx="518462" cy="816476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45FE8A83-F0EB-276D-DB34-0A49038C9D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7156" t="39024"/>
          <a:stretch>
            <a:fillRect/>
          </a:stretch>
        </p:blipFill>
        <p:spPr>
          <a:xfrm>
            <a:off x="-12221" y="-9525"/>
            <a:ext cx="1040921" cy="1011697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8DCEB8C6-8160-88D4-F607-1AA19FCBEB1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224828" y="347917"/>
            <a:ext cx="2139855" cy="578652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BC2A5A5A-5E11-9708-4764-1ABF2C766B4E}"/>
              </a:ext>
            </a:extLst>
          </p:cNvPr>
          <p:cNvSpPr txBox="1"/>
          <p:nvPr/>
        </p:nvSpPr>
        <p:spPr>
          <a:xfrm>
            <a:off x="661718" y="1003111"/>
            <a:ext cx="808650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BE" sz="5400" b="1" err="1">
                <a:solidFill>
                  <a:srgbClr val="E8870A"/>
                </a:solidFill>
                <a:latin typeface="Open Sans Bold"/>
                <a:ea typeface="Calibri"/>
                <a:cs typeface="Calibri"/>
              </a:rPr>
              <a:t>Dependency</a:t>
            </a:r>
            <a:r>
              <a:rPr lang="nl-BE" sz="5400" b="1">
                <a:solidFill>
                  <a:srgbClr val="E8870A"/>
                </a:solidFill>
                <a:latin typeface="Open Sans Bold"/>
                <a:ea typeface="Calibri"/>
                <a:cs typeface="Calibri"/>
              </a:rPr>
              <a:t> </a:t>
            </a:r>
            <a:r>
              <a:rPr lang="nl-BE" sz="5400" b="1" err="1">
                <a:solidFill>
                  <a:srgbClr val="E8870A"/>
                </a:solidFill>
                <a:latin typeface="Open Sans Bold"/>
                <a:ea typeface="Calibri"/>
                <a:cs typeface="Calibri"/>
              </a:rPr>
              <a:t>Injection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B9A41B8E-2261-8676-D2B3-53C87D37244D}"/>
              </a:ext>
            </a:extLst>
          </p:cNvPr>
          <p:cNvSpPr txBox="1">
            <a:spLocks/>
          </p:cNvSpPr>
          <p:nvPr/>
        </p:nvSpPr>
        <p:spPr>
          <a:xfrm>
            <a:off x="662077" y="2419709"/>
            <a:ext cx="8472219" cy="50273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Ingebouwde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 DI container 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cfr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. ASP.NET 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WebApi</a:t>
            </a:r>
            <a:endParaRPr lang="en-US" err="1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Registratie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 in </a:t>
            </a:r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Program.cs</a:t>
            </a:r>
            <a:endParaRPr lang="en-US" sz="2200">
              <a:solidFill>
                <a:srgbClr val="F2F2F2"/>
              </a:solidFill>
              <a:ea typeface="Calibri"/>
              <a:cs typeface="Calibri"/>
            </a:endParaRPr>
          </a:p>
          <a:p>
            <a:endParaRPr lang="en-US" sz="2200">
              <a:solidFill>
                <a:srgbClr val="F2F2F2"/>
              </a:solidFill>
              <a:ea typeface="Calibri"/>
              <a:cs typeface="Calibri"/>
            </a:endParaRPr>
          </a:p>
          <a:p>
            <a:endParaRPr lang="en-US" sz="2200">
              <a:solidFill>
                <a:srgbClr val="F2F2F2"/>
              </a:solidFill>
              <a:ea typeface="Calibri"/>
              <a:cs typeface="Calibri"/>
            </a:endParaRPr>
          </a:p>
          <a:p>
            <a:endParaRPr lang="en-US" sz="2200">
              <a:solidFill>
                <a:srgbClr val="F2F2F2"/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rgbClr val="F2F2F2"/>
                </a:solidFill>
                <a:ea typeface="Calibri"/>
                <a:cs typeface="Calibri"/>
              </a:rPr>
              <a:t>Injectie</a:t>
            </a:r>
            <a:r>
              <a:rPr lang="en-US" sz="2200">
                <a:solidFill>
                  <a:srgbClr val="F2F2F2"/>
                </a:solidFill>
                <a:ea typeface="Calibri"/>
                <a:cs typeface="Calibri"/>
              </a:rPr>
              <a:t> in component via @inject</a:t>
            </a:r>
          </a:p>
          <a:p>
            <a:pPr marL="0" indent="0">
              <a:buNone/>
            </a:pPr>
            <a:endParaRPr lang="en-US" sz="2200">
              <a:solidFill>
                <a:srgbClr val="F2F2F2"/>
              </a:solidFill>
              <a:ea typeface="Calibri"/>
              <a:cs typeface="Calibri"/>
            </a:endParaRPr>
          </a:p>
          <a:p>
            <a:endParaRPr lang="en-US" sz="2200">
              <a:solidFill>
                <a:srgbClr val="F2F2F2"/>
              </a:solidFill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F64609-C652-32C6-FB7E-97F619F393AD}"/>
              </a:ext>
            </a:extLst>
          </p:cNvPr>
          <p:cNvSpPr txBox="1"/>
          <p:nvPr/>
        </p:nvSpPr>
        <p:spPr>
          <a:xfrm>
            <a:off x="1027623" y="3513107"/>
            <a:ext cx="122430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builder.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Services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.</a:t>
            </a:r>
            <a:r>
              <a:rPr lang="en-US">
                <a:solidFill>
                  <a:srgbClr val="FFC66D"/>
                </a:solidFill>
                <a:highlight>
                  <a:srgbClr val="141414"/>
                </a:highlight>
              </a:rPr>
              <a:t>AddScoped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(</a:t>
            </a:r>
            <a:r>
              <a:rPr lang="en-US">
                <a:solidFill>
                  <a:srgbClr val="72737A"/>
                </a:solidFill>
                <a:highlight>
                  <a:srgbClr val="141414"/>
                </a:highlight>
              </a:rPr>
              <a:t>sp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=&gt; 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new </a:t>
            </a:r>
            <a:r>
              <a:rPr lang="en-US">
                <a:solidFill>
                  <a:srgbClr val="97A8D2"/>
                </a:solidFill>
                <a:highlight>
                  <a:srgbClr val="141414"/>
                </a:highlight>
              </a:rPr>
              <a:t>HttpClient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{ 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BaseAddress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= 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new </a:t>
            </a:r>
            <a:r>
              <a:rPr lang="en-US">
                <a:solidFill>
                  <a:srgbClr val="97A8D2"/>
                </a:solidFill>
                <a:highlight>
                  <a:srgbClr val="141414"/>
                </a:highlight>
              </a:rPr>
              <a:t>Uri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(builder.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HostEnvironment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.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BaseAddress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) })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</a:t>
            </a:r>
            <a:b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</a:b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builder.</a:t>
            </a: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Services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.</a:t>
            </a:r>
            <a:r>
              <a:rPr lang="en-US">
                <a:solidFill>
                  <a:srgbClr val="FFC66D"/>
                </a:solidFill>
                <a:highlight>
                  <a:srgbClr val="141414"/>
                </a:highlight>
              </a:rPr>
              <a:t>AddScoped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&lt;</a:t>
            </a:r>
            <a:r>
              <a:rPr lang="en-US">
                <a:solidFill>
                  <a:srgbClr val="D9A0A9"/>
                </a:solidFill>
                <a:highlight>
                  <a:srgbClr val="141414"/>
                </a:highlight>
              </a:rPr>
              <a:t>IMyCustomService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, </a:t>
            </a:r>
            <a:r>
              <a:rPr lang="en-US">
                <a:solidFill>
                  <a:srgbClr val="97A8D2"/>
                </a:solidFill>
                <a:highlight>
                  <a:srgbClr val="141414"/>
                </a:highlight>
              </a:rPr>
              <a:t>MyCustomService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&gt;()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17554-BA22-6AB7-22C5-E71F57244FAB}"/>
              </a:ext>
            </a:extLst>
          </p:cNvPr>
          <p:cNvSpPr txBox="1"/>
          <p:nvPr/>
        </p:nvSpPr>
        <p:spPr>
          <a:xfrm>
            <a:off x="1027622" y="5141343"/>
            <a:ext cx="983842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inject </a:t>
            </a:r>
            <a:r>
              <a:rPr lang="en-US" err="1">
                <a:solidFill>
                  <a:srgbClr val="D9A0A9"/>
                </a:solidFill>
                <a:highlight>
                  <a:srgbClr val="141414"/>
                </a:highlight>
              </a:rPr>
              <a:t>IMyCustomService</a:t>
            </a:r>
            <a:r>
              <a:rPr lang="en-US">
                <a:solidFill>
                  <a:srgbClr val="D9A0A9"/>
                </a:solidFill>
                <a:highlight>
                  <a:srgbClr val="141414"/>
                </a:highlight>
              </a:rPr>
              <a:t> </a:t>
            </a:r>
            <a:r>
              <a:rPr lang="en-US" err="1">
                <a:solidFill>
                  <a:srgbClr val="A782BB"/>
                </a:solidFill>
                <a:highlight>
                  <a:srgbClr val="141414"/>
                </a:highlight>
              </a:rPr>
              <a:t>MyService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inject </a:t>
            </a:r>
            <a:r>
              <a:rPr lang="en-US" err="1">
                <a:solidFill>
                  <a:srgbClr val="97A8D2"/>
                </a:solidFill>
                <a:highlight>
                  <a:srgbClr val="141414"/>
                </a:highlight>
              </a:rPr>
              <a:t>NavigationManager</a:t>
            </a:r>
            <a:r>
              <a:rPr lang="en-US">
                <a:solidFill>
                  <a:srgbClr val="97A8D2"/>
                </a:solidFill>
                <a:highlight>
                  <a:srgbClr val="141414"/>
                </a:highlight>
              </a:rPr>
              <a:t> </a:t>
            </a:r>
            <a:r>
              <a:rPr lang="en-US" err="1">
                <a:solidFill>
                  <a:srgbClr val="A782BB"/>
                </a:solidFill>
                <a:highlight>
                  <a:srgbClr val="141414"/>
                </a:highlight>
              </a:rPr>
              <a:t>NavigationManager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@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code </a:t>
            </a: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{</a:t>
            </a:r>
            <a:br>
              <a:rPr lang="en-US">
                <a:highlight>
                  <a:srgbClr val="141414"/>
                </a:highlight>
              </a:rPr>
            </a:b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 protected override async </a:t>
            </a:r>
            <a:r>
              <a:rPr lang="en-US">
                <a:solidFill>
                  <a:srgbClr val="97A8D2"/>
                </a:solidFill>
                <a:highlight>
                  <a:srgbClr val="141414"/>
                </a:highlight>
              </a:rPr>
              <a:t>Task </a:t>
            </a:r>
            <a:r>
              <a:rPr lang="en-US" err="1">
                <a:solidFill>
                  <a:srgbClr val="FFC66D"/>
                </a:solidFill>
                <a:highlight>
                  <a:srgbClr val="141414"/>
                </a:highlight>
              </a:rPr>
              <a:t>OnInitializedAsync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() {</a:t>
            </a:r>
            <a:br>
              <a:rPr lang="en-US">
                <a:highlight>
                  <a:srgbClr val="141414"/>
                </a:highlight>
              </a:rPr>
            </a:b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  var </a:t>
            </a:r>
            <a:r>
              <a:rPr lang="en-US">
                <a:solidFill>
                  <a:srgbClr val="72737A"/>
                </a:solidFill>
                <a:highlight>
                  <a:srgbClr val="141414"/>
                </a:highlight>
              </a:rPr>
              <a:t>data 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= </a:t>
            </a: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await </a:t>
            </a:r>
            <a:r>
              <a:rPr lang="en-US" err="1">
                <a:solidFill>
                  <a:srgbClr val="A782BB"/>
                </a:solidFill>
                <a:highlight>
                  <a:srgbClr val="141414"/>
                </a:highlight>
              </a:rPr>
              <a:t>MyService</a:t>
            </a:r>
            <a:r>
              <a:rPr lang="en-US" err="1">
                <a:solidFill>
                  <a:srgbClr val="CFD2D5"/>
                </a:solidFill>
                <a:highlight>
                  <a:srgbClr val="141414"/>
                </a:highlight>
              </a:rPr>
              <a:t>.</a:t>
            </a:r>
            <a:r>
              <a:rPr lang="en-US" err="1">
                <a:solidFill>
                  <a:srgbClr val="FFC66D"/>
                </a:solidFill>
                <a:highlight>
                  <a:srgbClr val="141414"/>
                </a:highlight>
              </a:rPr>
              <a:t>GetDataAsync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()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 }</a:t>
            </a:r>
            <a:br>
              <a:rPr lang="en-US">
                <a:highlight>
                  <a:srgbClr val="141414"/>
                </a:highlight>
              </a:rPr>
            </a:br>
            <a:br>
              <a:rPr lang="en-US">
                <a:highlight>
                  <a:srgbClr val="141414"/>
                </a:highlight>
              </a:rPr>
            </a:br>
            <a:r>
              <a:rPr lang="en-US" b="1">
                <a:solidFill>
                  <a:srgbClr val="CC7832"/>
                </a:solidFill>
                <a:highlight>
                  <a:srgbClr val="141414"/>
                </a:highlight>
              </a:rPr>
              <a:t> private void </a:t>
            </a:r>
            <a:r>
              <a:rPr lang="en-US" err="1">
                <a:solidFill>
                  <a:srgbClr val="FFC66D"/>
                </a:solidFill>
                <a:highlight>
                  <a:srgbClr val="141414"/>
                </a:highlight>
              </a:rPr>
              <a:t>GoToHome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() {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A782BB"/>
                </a:solidFill>
                <a:highlight>
                  <a:srgbClr val="141414"/>
                </a:highlight>
              </a:rPr>
              <a:t>  </a:t>
            </a:r>
            <a:r>
              <a:rPr lang="en-US" err="1">
                <a:solidFill>
                  <a:srgbClr val="A782BB"/>
                </a:solidFill>
                <a:highlight>
                  <a:srgbClr val="141414"/>
                </a:highlight>
              </a:rPr>
              <a:t>NavigationManager</a:t>
            </a:r>
            <a:r>
              <a:rPr lang="en-US" err="1">
                <a:solidFill>
                  <a:srgbClr val="CFD2D5"/>
                </a:solidFill>
                <a:highlight>
                  <a:srgbClr val="141414"/>
                </a:highlight>
              </a:rPr>
              <a:t>.</a:t>
            </a:r>
            <a:r>
              <a:rPr lang="en-US" err="1">
                <a:solidFill>
                  <a:srgbClr val="FFC66D"/>
                </a:solidFill>
                <a:highlight>
                  <a:srgbClr val="141414"/>
                </a:highlight>
              </a:rPr>
              <a:t>NavigateTo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(</a:t>
            </a:r>
            <a:r>
              <a:rPr lang="en-US">
                <a:solidFill>
                  <a:srgbClr val="8EA765"/>
                </a:solidFill>
                <a:highlight>
                  <a:srgbClr val="141414"/>
                </a:highlight>
              </a:rPr>
              <a:t>"/"</a:t>
            </a: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)</a:t>
            </a:r>
            <a:r>
              <a:rPr lang="en-US">
                <a:solidFill>
                  <a:srgbClr val="CC7832"/>
                </a:solidFill>
                <a:highlight>
                  <a:srgbClr val="141414"/>
                </a:highlight>
              </a:rPr>
              <a:t>;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CFD2D5"/>
                </a:solidFill>
                <a:highlight>
                  <a:srgbClr val="141414"/>
                </a:highlight>
              </a:rPr>
              <a:t> }</a:t>
            </a:r>
            <a:br>
              <a:rPr lang="en-US">
                <a:highlight>
                  <a:srgbClr val="141414"/>
                </a:highlight>
              </a:rPr>
            </a:br>
            <a:r>
              <a:rPr lang="en-US">
                <a:solidFill>
                  <a:srgbClr val="E8BF6A"/>
                </a:solidFill>
                <a:highlight>
                  <a:srgbClr val="141414"/>
                </a:highlight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191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A2259-2539-4510-DD40-89EECA475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81D08BA-78FB-B221-AD27-4661474294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533" b="7072"/>
          <a:stretch>
            <a:fillRect/>
          </a:stretch>
        </p:blipFill>
        <p:spPr>
          <a:xfrm>
            <a:off x="0" y="1743744"/>
            <a:ext cx="687157" cy="245658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D7E79A7-582E-E55F-3969-F783B7EAB4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73088" r="7308" b="3442"/>
          <a:stretch>
            <a:fillRect/>
          </a:stretch>
        </p:blipFill>
        <p:spPr>
          <a:xfrm rot="5400000">
            <a:off x="14774614" y="6773614"/>
            <a:ext cx="6804932" cy="22184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76EB6E6-2088-30AF-A137-4B8D064DA7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32811" r="20840" b="3582"/>
          <a:stretch>
            <a:fillRect/>
          </a:stretch>
        </p:blipFill>
        <p:spPr>
          <a:xfrm>
            <a:off x="12298819" y="0"/>
            <a:ext cx="5989181" cy="4812391"/>
          </a:xfrm>
          <a:prstGeom prst="rect">
            <a:avLst/>
          </a:prstGeom>
        </p:spPr>
      </p:pic>
      <p:grpSp>
        <p:nvGrpSpPr>
          <p:cNvPr id="5" name="Group 5">
            <a:extLst>
              <a:ext uri="{FF2B5EF4-FFF2-40B4-BE49-F238E27FC236}">
                <a16:creationId xmlns:a16="http://schemas.microsoft.com/office/drawing/2014/main" id="{ADAE5CAF-8C83-2094-10C3-FD12557E66D3}"/>
              </a:ext>
            </a:extLst>
          </p:cNvPr>
          <p:cNvGrpSpPr>
            <a:grpSpLocks noChangeAspect="1"/>
          </p:cNvGrpSpPr>
          <p:nvPr/>
        </p:nvGrpSpPr>
        <p:grpSpPr>
          <a:xfrm>
            <a:off x="13472280" y="155787"/>
            <a:ext cx="4177328" cy="4177311"/>
            <a:chOff x="0" y="0"/>
            <a:chExt cx="6350000" cy="634997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FBD825E-C37E-F469-6342-F091E0A73B80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l="-17681" r="-17681"/>
              </a:stretch>
            </a:blipFill>
          </p:spPr>
        </p:sp>
      </p:grpSp>
      <p:pic>
        <p:nvPicPr>
          <p:cNvPr id="7" name="Picture 7">
            <a:extLst>
              <a:ext uri="{FF2B5EF4-FFF2-40B4-BE49-F238E27FC236}">
                <a16:creationId xmlns:a16="http://schemas.microsoft.com/office/drawing/2014/main" id="{9C0BD001-CD8F-CEDE-9A39-479158BE69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378" t="71519"/>
          <a:stretch>
            <a:fillRect/>
          </a:stretch>
        </p:blipFill>
        <p:spPr>
          <a:xfrm>
            <a:off x="0" y="-2894"/>
            <a:ext cx="12634606" cy="313994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E50A9D7D-6DBC-2EE9-86F7-39D6661F31A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4996852" y="9151474"/>
            <a:ext cx="2652756" cy="71735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A030B90E-0116-32B0-7507-DE891074C381}"/>
              </a:ext>
            </a:extLst>
          </p:cNvPr>
          <p:cNvSpPr txBox="1"/>
          <p:nvPr/>
        </p:nvSpPr>
        <p:spPr>
          <a:xfrm>
            <a:off x="591628" y="571791"/>
            <a:ext cx="3233770" cy="212365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nl-BE" sz="6000" b="1">
                <a:solidFill>
                  <a:srgbClr val="E8870A"/>
                </a:solidFill>
              </a:rPr>
              <a:t>Summary</a:t>
            </a:r>
          </a:p>
          <a:p>
            <a:endParaRPr lang="nl-BE" sz="3600">
              <a:solidFill>
                <a:srgbClr val="E8870A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nl-BE" sz="36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912F39-0113-9CED-F7FF-5D6246580DDB}"/>
              </a:ext>
            </a:extLst>
          </p:cNvPr>
          <p:cNvSpPr txBox="1"/>
          <p:nvPr/>
        </p:nvSpPr>
        <p:spPr>
          <a:xfrm>
            <a:off x="682565" y="2375499"/>
            <a:ext cx="846359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F2F2F2"/>
                </a:solidFill>
                <a:ea typeface="Calibri"/>
                <a:cs typeface="Calibri"/>
              </a:rPr>
              <a:t>Blazor = C# </a:t>
            </a:r>
            <a:r>
              <a:rPr lang="en-US" sz="2400" err="1">
                <a:solidFill>
                  <a:srgbClr val="F2F2F2"/>
                </a:solidFill>
                <a:ea typeface="Calibri"/>
                <a:cs typeface="Calibri"/>
              </a:rPr>
              <a:t>voor</a:t>
            </a:r>
            <a:r>
              <a:rPr lang="en-US" sz="2400">
                <a:solidFill>
                  <a:srgbClr val="F2F2F2"/>
                </a:solidFill>
                <a:ea typeface="Calibri"/>
                <a:cs typeface="Calibri"/>
              </a:rPr>
              <a:t> Frontend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 err="1">
                <a:solidFill>
                  <a:srgbClr val="F2F2F2"/>
                </a:solidFill>
                <a:ea typeface="Calibri"/>
                <a:cs typeface="Calibri"/>
              </a:rPr>
              <a:t>Webassembly</a:t>
            </a:r>
            <a:r>
              <a:rPr lang="en-US" sz="2400" dirty="0">
                <a:solidFill>
                  <a:srgbClr val="F2F2F2"/>
                </a:solidFill>
                <a:ea typeface="Calibri"/>
                <a:cs typeface="Calibri"/>
              </a:rPr>
              <a:t>: C# in browser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F2F2F2"/>
                </a:solidFill>
                <a:ea typeface="Calibri"/>
                <a:cs typeface="Calibri"/>
              </a:rPr>
              <a:t>Components</a:t>
            </a:r>
            <a:endParaRPr lang="en-US" sz="2400" dirty="0">
              <a:solidFill>
                <a:srgbClr val="F2F2F2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F2F2F2"/>
                </a:solidFill>
                <a:ea typeface="Calibri"/>
                <a:cs typeface="Calibri"/>
              </a:rPr>
              <a:t>Lifecycle, Layouts, Routing, DI</a:t>
            </a:r>
          </a:p>
        </p:txBody>
      </p:sp>
    </p:spTree>
    <p:extLst>
      <p:ext uri="{BB962C8B-B14F-4D97-AF65-F5344CB8AC3E}">
        <p14:creationId xmlns:p14="http://schemas.microsoft.com/office/powerpoint/2010/main" val="4074589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883A7-7A1F-BFE0-05B6-C81A51427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B866CCE-F0D0-D827-0E74-4064816F09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38" r="22638"/>
          <a:stretch>
            <a:fillRect/>
          </a:stretch>
        </p:blipFill>
        <p:spPr>
          <a:xfrm>
            <a:off x="9838614" y="0"/>
            <a:ext cx="8449386" cy="10287000"/>
          </a:xfrm>
          <a:prstGeom prst="rect">
            <a:avLst/>
          </a:prstGeom>
        </p:spPr>
      </p:pic>
      <p:grpSp>
        <p:nvGrpSpPr>
          <p:cNvPr id="3" name="Group 3">
            <a:extLst>
              <a:ext uri="{FF2B5EF4-FFF2-40B4-BE49-F238E27FC236}">
                <a16:creationId xmlns:a16="http://schemas.microsoft.com/office/drawing/2014/main" id="{5C6F9EDB-F531-7136-80D4-A891A15F0A9D}"/>
              </a:ext>
            </a:extLst>
          </p:cNvPr>
          <p:cNvGrpSpPr/>
          <p:nvPr/>
        </p:nvGrpSpPr>
        <p:grpSpPr>
          <a:xfrm>
            <a:off x="320878" y="247664"/>
            <a:ext cx="1165884" cy="1233164"/>
            <a:chOff x="0" y="0"/>
            <a:chExt cx="1554512" cy="1644218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7BD9C2B1-BDA0-78CD-A43F-69BBC8D04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555419" cy="874676"/>
            </a:xfrm>
            <a:prstGeom prst="rect">
              <a:avLst/>
            </a:prstGeom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A75416A1-E1B5-CF68-1356-6AA3FD010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999093" y="0"/>
              <a:ext cx="555419" cy="874676"/>
            </a:xfrm>
            <a:prstGeom prst="rect">
              <a:avLst/>
            </a:prstGeom>
          </p:spPr>
        </p:pic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5213E2EC-2E50-12E7-CC4D-16E4A2EA6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0" y="1186692"/>
              <a:ext cx="555419" cy="457527"/>
            </a:xfrm>
            <a:prstGeom prst="rect">
              <a:avLst/>
            </a:prstGeom>
          </p:spPr>
        </p:pic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E6465B41-2712-9B80-3377-A1AAF0C37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999093" y="1186692"/>
              <a:ext cx="555419" cy="457527"/>
            </a:xfrm>
            <a:prstGeom prst="rect">
              <a:avLst/>
            </a:prstGeom>
          </p:spPr>
        </p:pic>
      </p:grpSp>
      <p:pic>
        <p:nvPicPr>
          <p:cNvPr id="8" name="Picture 8">
            <a:extLst>
              <a:ext uri="{FF2B5EF4-FFF2-40B4-BE49-F238E27FC236}">
                <a16:creationId xmlns:a16="http://schemas.microsoft.com/office/drawing/2014/main" id="{CC04B4CD-5F42-B488-70B1-3FA8DEFAADC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144000" y="8203342"/>
            <a:ext cx="1370713" cy="863549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9221184F-3506-C067-F7D0-393C3E58412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144000" y="9137701"/>
            <a:ext cx="1370713" cy="863549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B0174A3A-CBFD-3690-0D49-7A4FD3A003B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144000" y="7278769"/>
            <a:ext cx="1370713" cy="863549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61C2A4EA-8A4F-D455-5A1D-A2486E733AB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144000" y="6355270"/>
            <a:ext cx="1370713" cy="863549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229C3924-F3E0-72EF-6DCA-43E85F26B1B2}"/>
              </a:ext>
            </a:extLst>
          </p:cNvPr>
          <p:cNvSpPr txBox="1"/>
          <p:nvPr/>
        </p:nvSpPr>
        <p:spPr>
          <a:xfrm>
            <a:off x="990600" y="2226984"/>
            <a:ext cx="3796232" cy="101566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nl-BE" sz="6000" b="1">
                <a:solidFill>
                  <a:srgbClr val="E8870A"/>
                </a:solidFill>
              </a:rPr>
              <a:t>Hands - ON</a:t>
            </a:r>
            <a:endParaRPr lang="nl-BE" sz="6000" b="1">
              <a:solidFill>
                <a:srgbClr val="E8870A"/>
              </a:solidFill>
              <a:ea typeface="Calibri"/>
              <a:cs typeface="Calibri"/>
            </a:endParaRPr>
          </a:p>
        </p:txBody>
      </p:sp>
      <p:sp>
        <p:nvSpPr>
          <p:cNvPr id="13" name="Tekstvak 11">
            <a:extLst>
              <a:ext uri="{FF2B5EF4-FFF2-40B4-BE49-F238E27FC236}">
                <a16:creationId xmlns:a16="http://schemas.microsoft.com/office/drawing/2014/main" id="{BD28AB84-3E96-A067-348C-3A6CEABB7737}"/>
              </a:ext>
            </a:extLst>
          </p:cNvPr>
          <p:cNvSpPr txBox="1"/>
          <p:nvPr/>
        </p:nvSpPr>
        <p:spPr>
          <a:xfrm>
            <a:off x="990600" y="3634168"/>
            <a:ext cx="6482993" cy="101566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nl-BE" sz="6000" b="1" dirty="0" err="1">
                <a:solidFill>
                  <a:srgbClr val="E8870A"/>
                </a:solidFill>
              </a:rPr>
              <a:t>Itenium</a:t>
            </a:r>
            <a:r>
              <a:rPr lang="nl-BE" sz="6000" b="1" dirty="0">
                <a:solidFill>
                  <a:srgbClr val="E8870A"/>
                </a:solidFill>
              </a:rPr>
              <a:t> Socks Store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384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9312" b="931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2700000">
            <a:off x="2331222" y="6140093"/>
            <a:ext cx="327843" cy="326613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rot="-2700000">
            <a:off x="15647446" y="6140174"/>
            <a:ext cx="327228" cy="327228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2650658" y="6279438"/>
            <a:ext cx="12986684" cy="48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2612558" y="3231438"/>
            <a:ext cx="12986684" cy="48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r="31511" b="32341"/>
          <a:stretch>
            <a:fillRect/>
          </a:stretch>
        </p:blipFill>
        <p:spPr>
          <a:xfrm>
            <a:off x="17249775" y="9294270"/>
            <a:ext cx="1038225" cy="102565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rot="-2700000">
            <a:off x="15647446" y="3092174"/>
            <a:ext cx="327228" cy="327228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2700000">
            <a:off x="2277892" y="3092481"/>
            <a:ext cx="327843" cy="326613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441813" y="3910187"/>
            <a:ext cx="13404374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20"/>
              </a:lnSpc>
            </a:pPr>
            <a:r>
              <a:rPr lang="en-US" sz="11100">
                <a:solidFill>
                  <a:srgbClr val="FFFFFF"/>
                </a:solidFill>
                <a:latin typeface="Open Sa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14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Presentation</dc:title>
  <dc:creator>Michael Branders</dc:creator>
  <cp:revision>71</cp:revision>
  <dcterms:created xsi:type="dcterms:W3CDTF">2006-08-16T00:00:00Z</dcterms:created>
  <dcterms:modified xsi:type="dcterms:W3CDTF">2025-05-08T15:04:21Z</dcterms:modified>
  <dc:identifier>DAE4nIrG1s0</dc:identifier>
</cp:coreProperties>
</file>